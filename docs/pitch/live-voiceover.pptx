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45720"/>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10881360" cy="2834640"/>
          </a:xfrm>
          <a:prstGeom prst="rect">
            <a:avLst/>
          </a:prstGeom>
          <a:noFill/>
        </p:spPr>
        <p:txBody>
          <a:bodyPr wrap="square" lIns="0" rIns="0" tIns="0" bIns="0">
            <a:spAutoFit/>
          </a:bodyPr>
          <a:lstStyle/>
          <a:p>
            <a:pPr algn="l">
              <a:spcBef>
                <a:spcPts val="0"/>
              </a:spcBef>
              <a:spcAft>
                <a:spcPts val="400"/>
              </a:spcAft>
              <a:buNone/>
            </a:pPr>
            <a:r>
              <a:rPr sz="4600" b="1">
                <a:solidFill>
                  <a:srgbClr val="FFFFFF"/>
                </a:solidFill>
                <a:latin typeface="Segoe UI Semibold"/>
              </a:rPr>
              <a:t>Claros</a:t>
            </a:r>
          </a:p>
          <a:p>
            <a:pPr algn="l">
              <a:spcBef>
                <a:spcPts val="0"/>
              </a:spcBef>
              <a:spcAft>
                <a:spcPts val="1400"/>
              </a:spcAft>
              <a:buNone/>
            </a:pPr>
            <a:r>
              <a:rPr sz="3800" b="1">
                <a:solidFill>
                  <a:srgbClr val="00998A"/>
                </a:solidFill>
                <a:latin typeface="Segoe UI Semibold"/>
              </a:rPr>
              <a:t>the speech platform Windows already earned</a:t>
            </a:r>
          </a:p>
          <a:p>
            <a:pPr algn="l">
              <a:spcBef>
                <a:spcPts val="0"/>
              </a:spcBef>
              <a:spcAft>
                <a:spcPts val="0"/>
              </a:spcAft>
              <a:buNone/>
            </a:pPr>
            <a:r>
              <a:rPr sz="2000" b="0">
                <a:solidFill>
                  <a:srgbClr val="CFE0F3"/>
                </a:solidFill>
                <a:latin typeface="Segoe UI Light"/>
              </a:rPr>
              <a:t>Apple quietly shipped a complete on-device speech platform to every Mac. Windows ships speech tech that is as good or better, and comparable to the cloud, then locks it away behind a missing, misaligned API that only runs on a sliver of the fleet. This is that platform: cohesive, whole-fleet, and proven today.</a:t>
            </a:r>
          </a:p>
        </p:txBody>
      </p:sp>
      <p:sp>
        <p:nvSpPr>
          <p:cNvPr id="6" name="TextBox 5"/>
          <p:cNvSpPr txBox="1"/>
          <p:nvPr/>
        </p:nvSpPr>
        <p:spPr>
          <a:xfrm>
            <a:off x="731520" y="4389120"/>
            <a:ext cx="10881360" cy="1280160"/>
          </a:xfrm>
          <a:prstGeom prst="rect">
            <a:avLst/>
          </a:prstGeom>
          <a:noFill/>
        </p:spPr>
        <p:txBody>
          <a:bodyPr wrap="square" lIns="0" rIns="0" tIns="0" bIns="0">
            <a:spAutoFit/>
          </a:bodyPr>
          <a:lstStyle/>
          <a:p>
            <a:pPr algn="l">
              <a:spcBef>
                <a:spcPts val="0"/>
              </a:spcBef>
              <a:spcAft>
                <a:spcPts val="200"/>
              </a:spcAft>
              <a:buNone/>
            </a:pPr>
            <a:r>
              <a:rPr sz="1600" b="0">
                <a:solidFill>
                  <a:srgbClr val="9FC4E7"/>
                </a:solidFill>
                <a:latin typeface="Segoe UI"/>
              </a:rPr>
              <a:t>One cohesive API for the whole Windows 11 fleet: enumerate voices, synthesize, recognize, converse, all on-device.</a:t>
            </a:r>
          </a:p>
          <a:p>
            <a:pPr algn="l">
              <a:spcBef>
                <a:spcPts val="0"/>
              </a:spcBef>
              <a:spcAft>
                <a:spcPts val="200"/>
              </a:spcAft>
              <a:buNone/>
            </a:pPr>
            <a:r>
              <a:rPr sz="1600" b="1">
                <a:solidFill>
                  <a:srgbClr val="9FC4E7"/>
                </a:solidFill>
                <a:latin typeface="Segoe UI Semibold"/>
              </a:rPr>
              <a:t>Local-first and free by default; the same code scales to Azure.</a:t>
            </a:r>
          </a:p>
          <a:p>
            <a:pPr algn="l">
              <a:spcBef>
                <a:spcPts val="0"/>
              </a:spcBef>
              <a:spcAft>
                <a:spcPts val="0"/>
              </a:spcAft>
              <a:buNone/>
            </a:pPr>
            <a:r>
              <a:rPr sz="1600" b="1">
                <a:solidFill>
                  <a:srgbClr val="00998A"/>
                </a:solidFill>
                <a:latin typeface="Segoe UI Semibold"/>
              </a:rPr>
              <a:t>Claros is the working name of the implementation. It should ship as Windows.Speech.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CA5F00"/>
                </a:solidFill>
                <a:latin typeface="Segoe UI Semibold"/>
              </a:rPr>
              <a:t>WHY · NO COHESIVE PLATFORM</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Windows ships Whisper twice: two APIs, one engine</a:t>
            </a:r>
          </a:p>
        </p:txBody>
      </p:sp>
      <p:sp>
        <p:nvSpPr>
          <p:cNvPr id="6" name="TextBox 5"/>
          <p:cNvSpPr txBox="1"/>
          <p:nvPr/>
        </p:nvSpPr>
        <p:spPr>
          <a:xfrm>
            <a:off x="640080" y="1783080"/>
            <a:ext cx="10881360" cy="640080"/>
          </a:xfrm>
          <a:prstGeom prst="rect">
            <a:avLst/>
          </a:prstGeom>
          <a:noFill/>
        </p:spPr>
        <p:txBody>
          <a:bodyPr wrap="square" lIns="0" rIns="0" tIns="0" bIns="0">
            <a:spAutoFit/>
          </a:bodyPr>
          <a:lstStyle/>
          <a:p>
            <a:pPr algn="l">
              <a:spcBef>
                <a:spcPts val="0"/>
              </a:spcBef>
              <a:spcAft>
                <a:spcPts val="0"/>
              </a:spcAft>
              <a:buNone/>
            </a:pPr>
            <a:r>
              <a:rPr sz="1600" b="0">
                <a:solidFill>
                  <a:srgbClr val="1F1F1F"/>
                </a:solidFill>
                <a:latin typeface="Segoe UI"/>
              </a:rPr>
              <a:t>Where Windows does push on-device speech, it ships the very same Whisper model behind two different, unrelated APIs, and neither is a platform:</a:t>
            </a:r>
          </a:p>
        </p:txBody>
      </p:sp>
      <p:sp>
        <p:nvSpPr>
          <p:cNvPr id="7" name="Rectangle 6"/>
          <p:cNvSpPr/>
          <p:nvPr/>
        </p:nvSpPr>
        <p:spPr>
          <a:xfrm>
            <a:off x="658368" y="2514600"/>
            <a:ext cx="5257800" cy="251460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514600"/>
            <a:ext cx="5257800" cy="5669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624328"/>
            <a:ext cx="4663440" cy="457200"/>
          </a:xfrm>
          <a:prstGeom prst="rect">
            <a:avLst/>
          </a:prstGeom>
          <a:noFill/>
        </p:spPr>
        <p:txBody>
          <a:bodyPr wrap="square" lIns="0" rIns="0" tIns="0" bIns="0">
            <a:spAutoFit/>
          </a:bodyPr>
          <a:lstStyle/>
          <a:p>
            <a:pPr algn="l">
              <a:spcBef>
                <a:spcPts val="0"/>
              </a:spcBef>
              <a:spcAft>
                <a:spcPts val="0"/>
              </a:spcAft>
              <a:buNone/>
            </a:pPr>
            <a:r>
              <a:rPr sz="1700" b="1">
                <a:solidFill>
                  <a:srgbClr val="FFFFFF"/>
                </a:solidFill>
                <a:latin typeface="Segoe UI Semibold"/>
              </a:rPr>
              <a:t>WINDOWS AI APIs</a:t>
            </a:r>
          </a:p>
        </p:txBody>
      </p:sp>
      <p:sp>
        <p:nvSpPr>
          <p:cNvPr id="10" name="TextBox 9"/>
          <p:cNvSpPr txBox="1"/>
          <p:nvPr/>
        </p:nvSpPr>
        <p:spPr>
          <a:xfrm>
            <a:off x="950976" y="3291840"/>
            <a:ext cx="4663440" cy="1600200"/>
          </a:xfrm>
          <a:prstGeom prst="rect">
            <a:avLst/>
          </a:prstGeom>
          <a:noFill/>
        </p:spPr>
        <p:txBody>
          <a:bodyPr wrap="square" lIns="0" rIns="0" tIns="0" bIns="0">
            <a:spAutoFit/>
          </a:bodyPr>
          <a:lstStyle/>
          <a:p>
            <a:pPr algn="l">
              <a:spcBef>
                <a:spcPts val="0"/>
              </a:spcBef>
              <a:spcAft>
                <a:spcPts val="1000"/>
              </a:spcAft>
              <a:buFont typeface="Segoe UI"/>
              <a:buChar char="•"/>
            </a:pPr>
            <a:r>
              <a:rPr sz="1450" b="0">
                <a:solidFill>
                  <a:srgbClr val="1F1F1F"/>
                </a:solidFill>
                <a:latin typeface="Segoe UI"/>
              </a:rPr>
              <a:t>On-device speech-to-text via the Windows AI / Windows App SDK surface.</a:t>
            </a:r>
          </a:p>
          <a:p>
            <a:pPr algn="l">
              <a:spcBef>
                <a:spcPts val="0"/>
              </a:spcBef>
              <a:spcAft>
                <a:spcPts val="1000"/>
              </a:spcAft>
              <a:buFont typeface="Segoe UI"/>
              <a:buChar char="•"/>
            </a:pPr>
            <a:r>
              <a:rPr sz="1450" b="0">
                <a:solidFill>
                  <a:srgbClr val="1F1F1F"/>
                </a:solidFill>
                <a:latin typeface="Segoe UI"/>
              </a:rPr>
              <a:t>Its engine under the hood: Whisper (Large v3 Turbo).</a:t>
            </a:r>
          </a:p>
          <a:p>
            <a:pPr algn="l">
              <a:spcBef>
                <a:spcPts val="0"/>
              </a:spcBef>
              <a:spcAft>
                <a:spcPts val="1000"/>
              </a:spcAft>
              <a:buFont typeface="Segoe UI"/>
              <a:buChar char="•"/>
            </a:pPr>
            <a:r>
              <a:rPr sz="1450" b="0">
                <a:solidFill>
                  <a:srgbClr val="1F1F1F"/>
                </a:solidFill>
                <a:latin typeface="Segoe UI"/>
              </a:rPr>
              <a:t>Its own object model, gated to Copilot+ PCs with an NPU.</a:t>
            </a:r>
          </a:p>
        </p:txBody>
      </p:sp>
      <p:sp>
        <p:nvSpPr>
          <p:cNvPr id="11" name="Rectangle 10"/>
          <p:cNvSpPr/>
          <p:nvPr/>
        </p:nvSpPr>
        <p:spPr>
          <a:xfrm>
            <a:off x="6272784" y="2514600"/>
            <a:ext cx="5257800" cy="251460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2784" y="2514600"/>
            <a:ext cx="5257800" cy="566928"/>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624328"/>
            <a:ext cx="4663440" cy="457200"/>
          </a:xfrm>
          <a:prstGeom prst="rect">
            <a:avLst/>
          </a:prstGeom>
          <a:noFill/>
        </p:spPr>
        <p:txBody>
          <a:bodyPr wrap="square" lIns="0" rIns="0" tIns="0" bIns="0">
            <a:spAutoFit/>
          </a:bodyPr>
          <a:lstStyle/>
          <a:p>
            <a:pPr algn="l">
              <a:spcBef>
                <a:spcPts val="0"/>
              </a:spcBef>
              <a:spcAft>
                <a:spcPts val="0"/>
              </a:spcAft>
              <a:buNone/>
            </a:pPr>
            <a:r>
              <a:rPr sz="1700" b="1">
                <a:solidFill>
                  <a:srgbClr val="FFFFFF"/>
                </a:solidFill>
                <a:latin typeface="Segoe UI Semibold"/>
              </a:rPr>
              <a:t>FOUNDRY LOCAL</a:t>
            </a:r>
          </a:p>
        </p:txBody>
      </p:sp>
      <p:sp>
        <p:nvSpPr>
          <p:cNvPr id="14" name="TextBox 13"/>
          <p:cNvSpPr txBox="1"/>
          <p:nvPr/>
        </p:nvSpPr>
        <p:spPr>
          <a:xfrm>
            <a:off x="6565392" y="3291840"/>
            <a:ext cx="4663440" cy="1600200"/>
          </a:xfrm>
          <a:prstGeom prst="rect">
            <a:avLst/>
          </a:prstGeom>
          <a:noFill/>
        </p:spPr>
        <p:txBody>
          <a:bodyPr wrap="square" lIns="0" rIns="0" tIns="0" bIns="0">
            <a:spAutoFit/>
          </a:bodyPr>
          <a:lstStyle/>
          <a:p>
            <a:pPr algn="l">
              <a:spcBef>
                <a:spcPts val="0"/>
              </a:spcBef>
              <a:spcAft>
                <a:spcPts val="1000"/>
              </a:spcAft>
              <a:buFont typeface="Segoe UI"/>
              <a:buChar char="•"/>
            </a:pPr>
            <a:r>
              <a:rPr sz="1450" b="0">
                <a:solidFill>
                  <a:srgbClr val="1F1F1F"/>
                </a:solidFill>
                <a:latin typeface="Segoe UI"/>
              </a:rPr>
              <a:t>A separate local-model runtime and API, with its own SDK and CLI.</a:t>
            </a:r>
          </a:p>
          <a:p>
            <a:pPr algn="l">
              <a:spcBef>
                <a:spcPts val="0"/>
              </a:spcBef>
              <a:spcAft>
                <a:spcPts val="1000"/>
              </a:spcAft>
              <a:buFont typeface="Segoe UI"/>
              <a:buChar char="•"/>
            </a:pPr>
            <a:r>
              <a:rPr sz="1450" b="0">
                <a:solidFill>
                  <a:srgbClr val="1F1F1F"/>
                </a:solidFill>
                <a:latin typeface="Segoe UI"/>
              </a:rPr>
              <a:t>Ships the same Whisper family again, a different way in.</a:t>
            </a:r>
          </a:p>
          <a:p>
            <a:pPr algn="l">
              <a:spcBef>
                <a:spcPts val="0"/>
              </a:spcBef>
              <a:spcAft>
                <a:spcPts val="1000"/>
              </a:spcAft>
              <a:buFont typeface="Segoe UI"/>
              <a:buChar char="•"/>
            </a:pPr>
            <a:r>
              <a:rPr sz="1450" b="0">
                <a:solidFill>
                  <a:srgbClr val="1F1F1F"/>
                </a:solidFill>
                <a:latin typeface="Segoe UI"/>
              </a:rPr>
              <a:t>Same engine, different shape: two doors, no shared platform.</a:t>
            </a:r>
          </a:p>
        </p:txBody>
      </p:sp>
      <p:sp>
        <p:nvSpPr>
          <p:cNvPr id="15" name="TextBox 14"/>
          <p:cNvSpPr txBox="1"/>
          <p:nvPr/>
        </p:nvSpPr>
        <p:spPr>
          <a:xfrm>
            <a:off x="640080" y="5257800"/>
            <a:ext cx="10881360" cy="822960"/>
          </a:xfrm>
          <a:prstGeom prst="rect">
            <a:avLst/>
          </a:prstGeom>
          <a:noFill/>
        </p:spPr>
        <p:txBody>
          <a:bodyPr wrap="square" lIns="0" rIns="0" tIns="0" bIns="0">
            <a:spAutoFit/>
          </a:bodyPr>
          <a:lstStyle/>
          <a:p>
            <a:pPr algn="l">
              <a:spcBef>
                <a:spcPts val="0"/>
              </a:spcBef>
              <a:spcAft>
                <a:spcPts val="0"/>
              </a:spcAft>
              <a:buNone/>
            </a:pPr>
            <a:r>
              <a:rPr sz="1800" b="1">
                <a:solidFill>
                  <a:srgbClr val="103A5E"/>
                </a:solidFill>
                <a:latin typeface="Segoe UI Semibold"/>
              </a:rPr>
              <a:t>Same model, two API shapes, and both inherit Whisper's real problem: it doesn't run well on the machines people actually have.</a:t>
            </a:r>
          </a:p>
        </p:txBody>
      </p:sp>
      <p:sp>
        <p:nvSpPr>
          <p:cNvPr id="16" name="TextBox 15"/>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7" name="TextBox 16"/>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CA5F00"/>
                </a:solidFill>
                <a:latin typeface="Segoe UI Semibold"/>
              </a:rPr>
              <a:t>WHY · NOT OPTIMIZED FOR THE FLEET</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Even ignore the API mess: the tech is too heavy</a:t>
            </a:r>
          </a:p>
        </p:txBody>
      </p:sp>
      <p:sp>
        <p:nvSpPr>
          <p:cNvPr id="6" name="Rectangle 5"/>
          <p:cNvSpPr/>
          <p:nvPr/>
        </p:nvSpPr>
        <p:spPr>
          <a:xfrm>
            <a:off x="640080" y="1828800"/>
            <a:ext cx="5212080" cy="3063240"/>
          </a:xfrm>
          <a:prstGeom prst="rect">
            <a:avLst/>
          </a:prstGeom>
          <a:solidFill>
            <a:srgbClr val="FB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754880" cy="2651760"/>
          </a:xfrm>
          <a:prstGeom prst="rect">
            <a:avLst/>
          </a:prstGeom>
          <a:noFill/>
        </p:spPr>
        <p:txBody>
          <a:bodyPr wrap="square" lIns="0" rIns="0" tIns="0" bIns="0">
            <a:spAutoFit/>
          </a:bodyPr>
          <a:lstStyle/>
          <a:p>
            <a:pPr algn="l">
              <a:spcBef>
                <a:spcPts val="0"/>
              </a:spcBef>
              <a:spcAft>
                <a:spcPts val="800"/>
              </a:spcAft>
              <a:buNone/>
            </a:pPr>
            <a:r>
              <a:rPr sz="2000" b="1">
                <a:solidFill>
                  <a:srgbClr val="CA5F00"/>
                </a:solidFill>
                <a:latin typeface="Segoe UI Semibold"/>
              </a:rPr>
              <a:t>Whisper isn't built for Windows</a:t>
            </a:r>
          </a:p>
          <a:p>
            <a:pPr algn="l">
              <a:spcBef>
                <a:spcPts val="0"/>
              </a:spcBef>
              <a:spcAft>
                <a:spcPts val="0"/>
              </a:spcAft>
              <a:buNone/>
            </a:pPr>
            <a:r>
              <a:rPr sz="1600" b="0">
                <a:solidFill>
                  <a:srgbClr val="1F1F1F"/>
                </a:solidFill>
                <a:latin typeface="Segoe UI"/>
              </a:rPr>
              <a:t>The model that's being pushed simply isn't optimized for the platform. It's multiple gigabytes on disk and in RAM, and it runs slowly even on an NPU, so you need a very high-end PC, which we know most people do not run.</a:t>
            </a:r>
          </a:p>
        </p:txBody>
      </p:sp>
      <p:sp>
        <p:nvSpPr>
          <p:cNvPr id="8" name="TextBox 7"/>
          <p:cNvSpPr txBox="1"/>
          <p:nvPr/>
        </p:nvSpPr>
        <p:spPr>
          <a:xfrm>
            <a:off x="6126480" y="1828800"/>
            <a:ext cx="5486400" cy="3291840"/>
          </a:xfrm>
          <a:prstGeom prst="rect">
            <a:avLst/>
          </a:prstGeom>
          <a:noFill/>
        </p:spPr>
        <p:txBody>
          <a:bodyPr wrap="square" lIns="0" rIns="0" tIns="0" bIns="0">
            <a:spAutoFit/>
          </a:bodyPr>
          <a:lstStyle/>
          <a:p>
            <a:pPr algn="l">
              <a:spcBef>
                <a:spcPts val="0"/>
              </a:spcBef>
              <a:spcAft>
                <a:spcPts val="1300"/>
              </a:spcAft>
              <a:buFont typeface="Segoe UI"/>
              <a:buChar char="•"/>
            </a:pPr>
            <a:r>
              <a:rPr sz="1650" b="0">
                <a:solidFill>
                  <a:srgbClr val="1F1F1F"/>
                </a:solidFill>
                <a:latin typeface="Segoe UI"/>
              </a:rPr>
              <a:t>Multiple GB on disk, just to install the speech model.</a:t>
            </a:r>
          </a:p>
          <a:p>
            <a:pPr algn="l">
              <a:spcBef>
                <a:spcPts val="0"/>
              </a:spcBef>
              <a:spcAft>
                <a:spcPts val="1300"/>
              </a:spcAft>
              <a:buFont typeface="Segoe UI"/>
              <a:buChar char="•"/>
            </a:pPr>
            <a:r>
              <a:rPr sz="1650" b="0">
                <a:solidFill>
                  <a:srgbClr val="1F1F1F"/>
                </a:solidFill>
                <a:latin typeface="Segoe UI"/>
              </a:rPr>
              <a:t>Multiple GB of RAM at runtime, on a fleet where 16 GB is common.</a:t>
            </a:r>
          </a:p>
          <a:p>
            <a:pPr algn="l">
              <a:spcBef>
                <a:spcPts val="0"/>
              </a:spcBef>
              <a:spcAft>
                <a:spcPts val="1300"/>
              </a:spcAft>
              <a:buFont typeface="Segoe UI"/>
              <a:buChar char="•"/>
            </a:pPr>
            <a:r>
              <a:rPr sz="1650" b="0">
                <a:solidFill>
                  <a:srgbClr val="1F1F1F"/>
                </a:solidFill>
                <a:latin typeface="Segoe UI"/>
              </a:rPr>
              <a:t>Slow even on an NPU; real-time is a struggle without top-tier silicon.</a:t>
            </a:r>
          </a:p>
          <a:p>
            <a:pPr algn="l">
              <a:spcBef>
                <a:spcPts val="0"/>
              </a:spcBef>
              <a:spcAft>
                <a:spcPts val="1300"/>
              </a:spcAft>
              <a:buFont typeface="Segoe UI"/>
              <a:buChar char="•"/>
            </a:pPr>
            <a:r>
              <a:rPr sz="1650" b="0">
                <a:solidFill>
                  <a:srgbClr val="1F1F1F"/>
                </a:solidFill>
                <a:latin typeface="Segoe UI"/>
              </a:rPr>
              <a:t>So it only lands on a sliver of high-end, Copilot+ machines.</a:t>
            </a:r>
          </a:p>
          <a:p>
            <a:pPr algn="l">
              <a:spcBef>
                <a:spcPts val="0"/>
              </a:spcBef>
              <a:spcAft>
                <a:spcPts val="1300"/>
              </a:spcAft>
              <a:buFont typeface="Segoe UI"/>
              <a:buChar char="•"/>
            </a:pPr>
            <a:r>
              <a:rPr sz="1650" b="0">
                <a:solidFill>
                  <a:srgbClr val="1F1F1F"/>
                </a:solidFill>
                <a:latin typeface="Segoe UI"/>
              </a:rPr>
              <a:t>Result: extremely limited adoption. Developers can't target it.</a:t>
            </a:r>
          </a:p>
        </p:txBody>
      </p:sp>
      <p:sp>
        <p:nvSpPr>
          <p:cNvPr id="9" name="TextBox 8"/>
          <p:cNvSpPr txBox="1"/>
          <p:nvPr/>
        </p:nvSpPr>
        <p:spPr>
          <a:xfrm>
            <a:off x="640080" y="5212080"/>
            <a:ext cx="10881360" cy="822960"/>
          </a:xfrm>
          <a:prstGeom prst="rect">
            <a:avLst/>
          </a:prstGeom>
          <a:noFill/>
        </p:spPr>
        <p:txBody>
          <a:bodyPr wrap="square" lIns="0" rIns="0" tIns="0" bIns="0">
            <a:spAutoFit/>
          </a:bodyPr>
          <a:lstStyle/>
          <a:p>
            <a:pPr algn="l">
              <a:spcBef>
                <a:spcPts val="0"/>
              </a:spcBef>
              <a:spcAft>
                <a:spcPts val="0"/>
              </a:spcAft>
              <a:buNone/>
            </a:pPr>
            <a:r>
              <a:rPr sz="1800" b="1">
                <a:solidFill>
                  <a:srgbClr val="103A5E"/>
                </a:solidFill>
                <a:latin typeface="Segoe UI Semibold"/>
              </a:rPr>
              <a:t>A platform only counts if it runs on the fleet you actually have. Today's path doesn't, on hardware, on disk, or on memory.</a:t>
            </a:r>
          </a:p>
        </p:txBody>
      </p:sp>
      <p:sp>
        <p:nvSpPr>
          <p:cNvPr id="10" name="TextBox 9"/>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1" name="TextBox 10"/>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998A"/>
                </a:solidFill>
                <a:latin typeface="Segoe UI Semibold"/>
              </a:rPr>
              <a:t>WHY · APPLE ALREADY DID IT</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Apple quietly shipped the complete platform, to every Mac</a:t>
            </a:r>
          </a:p>
        </p:txBody>
      </p:sp>
      <p:sp>
        <p:nvSpPr>
          <p:cNvPr id="6" name="TextBox 5"/>
          <p:cNvSpPr txBox="1"/>
          <p:nvPr/>
        </p:nvSpPr>
        <p:spPr>
          <a:xfrm>
            <a:off x="640080" y="1783080"/>
            <a:ext cx="10881360" cy="640080"/>
          </a:xfrm>
          <a:prstGeom prst="rect">
            <a:avLst/>
          </a:prstGeom>
          <a:noFill/>
        </p:spPr>
        <p:txBody>
          <a:bodyPr wrap="square" lIns="0" rIns="0" tIns="0" bIns="0">
            <a:spAutoFit/>
          </a:bodyPr>
          <a:lstStyle/>
          <a:p>
            <a:pPr algn="l">
              <a:spcBef>
                <a:spcPts val="0"/>
              </a:spcBef>
              <a:spcAft>
                <a:spcPts val="0"/>
              </a:spcAft>
              <a:buNone/>
            </a:pPr>
            <a:r>
              <a:rPr sz="1600" b="0">
                <a:solidFill>
                  <a:srgbClr val="1F1F1F"/>
                </a:solidFill>
                <a:latin typeface="Segoe UI"/>
              </a:rPr>
              <a:t>While Windows debated, Apple shipped a cohesive on-device speech platform and put it on every Mac in use, not just the newest:</a:t>
            </a:r>
          </a:p>
        </p:txBody>
      </p:sp>
      <p:sp>
        <p:nvSpPr>
          <p:cNvPr id="7" name="Rectangle 6"/>
          <p:cNvSpPr/>
          <p:nvPr/>
        </p:nvSpPr>
        <p:spPr>
          <a:xfrm>
            <a:off x="658368" y="2514600"/>
            <a:ext cx="5257800" cy="141732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514600"/>
            <a:ext cx="109728" cy="1417320"/>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7" y="2715768"/>
            <a:ext cx="4709160" cy="1051560"/>
          </a:xfrm>
          <a:prstGeom prst="rect">
            <a:avLst/>
          </a:prstGeom>
          <a:noFill/>
        </p:spPr>
        <p:txBody>
          <a:bodyPr wrap="square" lIns="0" rIns="0" tIns="0" bIns="0">
            <a:spAutoFit/>
          </a:bodyPr>
          <a:lstStyle/>
          <a:p>
            <a:pPr algn="l">
              <a:spcBef>
                <a:spcPts val="0"/>
              </a:spcBef>
              <a:spcAft>
                <a:spcPts val="600"/>
              </a:spcAft>
              <a:buNone/>
            </a:pPr>
            <a:r>
              <a:rPr sz="1700" b="1">
                <a:solidFill>
                  <a:srgbClr val="1F1F1F"/>
                </a:solidFill>
                <a:latin typeface="Segoe UI Semibold"/>
              </a:rPr>
              <a:t>SpeechAnalyzer (STT)</a:t>
            </a:r>
          </a:p>
          <a:p>
            <a:pPr algn="l">
              <a:spcBef>
                <a:spcPts val="0"/>
              </a:spcBef>
              <a:spcAft>
                <a:spcPts val="0"/>
              </a:spcAft>
              <a:buNone/>
            </a:pPr>
            <a:r>
              <a:rPr sz="1400" b="0">
                <a:solidFill>
                  <a:srgbClr val="606060"/>
                </a:solidFill>
                <a:latin typeface="Segoe UI"/>
              </a:rPr>
              <a:t>On-device recognition with ITN, punctuation, per-speaker attribution.</a:t>
            </a:r>
          </a:p>
        </p:txBody>
      </p:sp>
      <p:sp>
        <p:nvSpPr>
          <p:cNvPr id="10" name="Rectangle 9"/>
          <p:cNvSpPr/>
          <p:nvPr/>
        </p:nvSpPr>
        <p:spPr>
          <a:xfrm>
            <a:off x="6272784" y="2514600"/>
            <a:ext cx="5257800" cy="141732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2514600"/>
            <a:ext cx="109728" cy="1417320"/>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2715768"/>
            <a:ext cx="4709160" cy="1051560"/>
          </a:xfrm>
          <a:prstGeom prst="rect">
            <a:avLst/>
          </a:prstGeom>
          <a:noFill/>
        </p:spPr>
        <p:txBody>
          <a:bodyPr wrap="square" lIns="0" rIns="0" tIns="0" bIns="0">
            <a:spAutoFit/>
          </a:bodyPr>
          <a:lstStyle/>
          <a:p>
            <a:pPr algn="l">
              <a:spcBef>
                <a:spcPts val="0"/>
              </a:spcBef>
              <a:spcAft>
                <a:spcPts val="600"/>
              </a:spcAft>
              <a:buNone/>
            </a:pPr>
            <a:r>
              <a:rPr sz="1700" b="1">
                <a:solidFill>
                  <a:srgbClr val="1F1F1F"/>
                </a:solidFill>
                <a:latin typeface="Segoe UI Semibold"/>
              </a:rPr>
              <a:t>Neural TTS</a:t>
            </a:r>
          </a:p>
          <a:p>
            <a:pPr algn="l">
              <a:spcBef>
                <a:spcPts val="0"/>
              </a:spcBef>
              <a:spcAft>
                <a:spcPts val="0"/>
              </a:spcAft>
              <a:buNone/>
            </a:pPr>
            <a:r>
              <a:rPr sz="1400" b="0">
                <a:solidFill>
                  <a:srgbClr val="606060"/>
                </a:solidFill>
                <a:latin typeface="Segoe UI"/>
              </a:rPr>
              <a:t>High-quality on-device voices, one shared system model.</a:t>
            </a:r>
          </a:p>
        </p:txBody>
      </p:sp>
      <p:sp>
        <p:nvSpPr>
          <p:cNvPr id="13" name="Rectangle 12"/>
          <p:cNvSpPr/>
          <p:nvPr/>
        </p:nvSpPr>
        <p:spPr>
          <a:xfrm>
            <a:off x="658368" y="4160520"/>
            <a:ext cx="5257800" cy="141732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4160520"/>
            <a:ext cx="109728" cy="1417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7" y="4361688"/>
            <a:ext cx="4709160" cy="1051560"/>
          </a:xfrm>
          <a:prstGeom prst="rect">
            <a:avLst/>
          </a:prstGeom>
          <a:noFill/>
        </p:spPr>
        <p:txBody>
          <a:bodyPr wrap="square" lIns="0" rIns="0" tIns="0" bIns="0">
            <a:spAutoFit/>
          </a:bodyPr>
          <a:lstStyle/>
          <a:p>
            <a:pPr algn="l">
              <a:spcBef>
                <a:spcPts val="0"/>
              </a:spcBef>
              <a:spcAft>
                <a:spcPts val="600"/>
              </a:spcAft>
              <a:buNone/>
            </a:pPr>
            <a:r>
              <a:rPr sz="1700" b="1">
                <a:solidFill>
                  <a:srgbClr val="1F1F1F"/>
                </a:solidFill>
                <a:latin typeface="Segoe UI Semibold"/>
              </a:rPr>
              <a:t>Runs on every Mac</a:t>
            </a:r>
          </a:p>
          <a:p>
            <a:pPr algn="l">
              <a:spcBef>
                <a:spcPts val="0"/>
              </a:spcBef>
              <a:spcAft>
                <a:spcPts val="0"/>
              </a:spcAft>
              <a:buNone/>
            </a:pPr>
            <a:r>
              <a:rPr sz="1400" b="0">
                <a:solidFill>
                  <a:srgbClr val="606060"/>
                </a:solidFill>
                <a:latin typeface="Segoe UI"/>
              </a:rPr>
              <a:t>Not gated to the latest silicon; the whole fleet is the target.</a:t>
            </a:r>
          </a:p>
        </p:txBody>
      </p:sp>
      <p:sp>
        <p:nvSpPr>
          <p:cNvPr id="16" name="Rectangle 15"/>
          <p:cNvSpPr/>
          <p:nvPr/>
        </p:nvSpPr>
        <p:spPr>
          <a:xfrm>
            <a:off x="6272784" y="4160520"/>
            <a:ext cx="5257800" cy="141732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2784" y="4160520"/>
            <a:ext cx="109728" cy="1417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4361688"/>
            <a:ext cx="4709160" cy="1051560"/>
          </a:xfrm>
          <a:prstGeom prst="rect">
            <a:avLst/>
          </a:prstGeom>
          <a:noFill/>
        </p:spPr>
        <p:txBody>
          <a:bodyPr wrap="square" lIns="0" rIns="0" tIns="0" bIns="0">
            <a:spAutoFit/>
          </a:bodyPr>
          <a:lstStyle/>
          <a:p>
            <a:pPr algn="l">
              <a:spcBef>
                <a:spcPts val="0"/>
              </a:spcBef>
              <a:spcAft>
                <a:spcPts val="600"/>
              </a:spcAft>
              <a:buNone/>
            </a:pPr>
            <a:r>
              <a:rPr sz="1700" b="1">
                <a:solidFill>
                  <a:srgbClr val="1F1F1F"/>
                </a:solidFill>
                <a:latin typeface="Segoe UI Semibold"/>
              </a:rPr>
              <a:t>~900 MB, real-time</a:t>
            </a:r>
          </a:p>
          <a:p>
            <a:pPr algn="l">
              <a:spcBef>
                <a:spcPts val="0"/>
              </a:spcBef>
              <a:spcAft>
                <a:spcPts val="0"/>
              </a:spcAft>
              <a:buNone/>
            </a:pPr>
            <a:r>
              <a:rPr sz="1400" b="0">
                <a:solidFill>
                  <a:srgbClr val="606060"/>
                </a:solidFill>
                <a:latin typeface="Segoe UI"/>
              </a:rPr>
              <a:t>Efficient enough to be practical: ships in real apps today.</a:t>
            </a:r>
          </a:p>
        </p:txBody>
      </p:sp>
      <p:sp>
        <p:nvSpPr>
          <p:cNvPr id="19" name="TextBox 18"/>
          <p:cNvSpPr txBox="1"/>
          <p:nvPr/>
        </p:nvSpPr>
        <p:spPr>
          <a:xfrm>
            <a:off x="640080" y="5806440"/>
            <a:ext cx="10881360" cy="548640"/>
          </a:xfrm>
          <a:prstGeom prst="rect">
            <a:avLst/>
          </a:prstGeom>
          <a:noFill/>
        </p:spPr>
        <p:txBody>
          <a:bodyPr wrap="square" lIns="0" rIns="0" tIns="0" bIns="0">
            <a:spAutoFit/>
          </a:bodyPr>
          <a:lstStyle/>
          <a:p>
            <a:pPr algn="l">
              <a:spcBef>
                <a:spcPts val="0"/>
              </a:spcBef>
              <a:spcAft>
                <a:spcPts val="0"/>
              </a:spcAft>
              <a:buNone/>
            </a:pPr>
            <a:r>
              <a:rPr sz="1600" b="1">
                <a:solidFill>
                  <a:srgbClr val="103A5E"/>
                </a:solidFill>
                <a:latin typeface="Segoe UI Semibold"/>
              </a:rPr>
              <a:t>The model is proven and wanted: cohesive, on-device, fleet-wide speech. The only question is whether Windows will answer it.</a:t>
            </a:r>
          </a:p>
        </p:txBody>
      </p:sp>
      <p:sp>
        <p:nvSpPr>
          <p:cNvPr id="20" name="TextBox 19"/>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21" name="TextBox 20"/>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CA5F00"/>
                </a:solidFill>
                <a:latin typeface="Segoe UI Semibold"/>
              </a:rPr>
              <a:t>WHY · THE FACE-PALM</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Windows already ships tech that matches or beats it</a:t>
            </a:r>
          </a:p>
        </p:txBody>
      </p:sp>
      <p:sp>
        <p:nvSpPr>
          <p:cNvPr id="6" name="TextBox 5"/>
          <p:cNvSpPr txBox="1"/>
          <p:nvPr/>
        </p:nvSpPr>
        <p:spPr>
          <a:xfrm>
            <a:off x="640080" y="1783080"/>
            <a:ext cx="10881360" cy="822960"/>
          </a:xfrm>
          <a:prstGeom prst="rect">
            <a:avLst/>
          </a:prstGeom>
          <a:noFill/>
        </p:spPr>
        <p:txBody>
          <a:bodyPr wrap="square" lIns="0" rIns="0" tIns="0" bIns="0">
            <a:spAutoFit/>
          </a:bodyPr>
          <a:lstStyle/>
          <a:p>
            <a:pPr algn="l">
              <a:spcBef>
                <a:spcPts val="0"/>
              </a:spcBef>
              <a:spcAft>
                <a:spcPts val="0"/>
              </a:spcAft>
              <a:buNone/>
            </a:pPr>
            <a:r>
              <a:rPr sz="1600" b="0">
                <a:solidFill>
                  <a:srgbClr val="1F1F1F"/>
                </a:solidFill>
                <a:latin typeface="Segoe UI"/>
              </a:rPr>
              <a:t>Here is the frustrating part. Windows doesn't need to invent anything. The tech already ships in the box, and it's as good or better than the Mac, with results comparable to the cloud:</a:t>
            </a:r>
          </a:p>
        </p:txBody>
      </p:sp>
      <p:sp>
        <p:nvSpPr>
          <p:cNvPr id="7" name="Rectangle 6"/>
          <p:cNvSpPr/>
          <p:nvPr/>
        </p:nvSpPr>
        <p:spPr>
          <a:xfrm>
            <a:off x="640080" y="2697480"/>
            <a:ext cx="109728" cy="7498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97480"/>
            <a:ext cx="10424160" cy="749808"/>
          </a:xfrm>
          <a:prstGeom prst="rect">
            <a:avLst/>
          </a:prstGeom>
          <a:noFill/>
        </p:spPr>
        <p:txBody>
          <a:bodyPr wrap="square" lIns="0" rIns="0" tIns="0" bIns="0">
            <a:spAutoFit/>
          </a:bodyPr>
          <a:lstStyle/>
          <a:p>
            <a:pPr algn="l">
              <a:spcBef>
                <a:spcPts val="0"/>
              </a:spcBef>
              <a:spcAft>
                <a:spcPts val="200"/>
              </a:spcAft>
              <a:buNone/>
            </a:pPr>
            <a:r>
              <a:rPr sz="1900" b="1">
                <a:solidFill>
                  <a:srgbClr val="1F1F1F"/>
                </a:solidFill>
                <a:latin typeface="Segoe UI Semibold"/>
              </a:rPr>
              <a:t>Natural HD voices</a:t>
            </a:r>
          </a:p>
          <a:p>
            <a:pPr algn="l">
              <a:spcBef>
                <a:spcPts val="0"/>
              </a:spcBef>
              <a:spcAft>
                <a:spcPts val="0"/>
              </a:spcAft>
              <a:buNone/>
            </a:pPr>
            <a:r>
              <a:rPr sz="1500" b="0">
                <a:solidFill>
                  <a:srgbClr val="606060"/>
                </a:solidFill>
                <a:latin typeface="Segoe UI"/>
              </a:rPr>
              <a:t>The same neural voices as Microsoft's cloud, running offline on the device.</a:t>
            </a:r>
          </a:p>
        </p:txBody>
      </p:sp>
      <p:sp>
        <p:nvSpPr>
          <p:cNvPr id="9" name="Rectangle 8"/>
          <p:cNvSpPr/>
          <p:nvPr/>
        </p:nvSpPr>
        <p:spPr>
          <a:xfrm>
            <a:off x="640080" y="3611880"/>
            <a:ext cx="109728" cy="7498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11880"/>
            <a:ext cx="10424160" cy="749808"/>
          </a:xfrm>
          <a:prstGeom prst="rect">
            <a:avLst/>
          </a:prstGeom>
          <a:noFill/>
        </p:spPr>
        <p:txBody>
          <a:bodyPr wrap="square" lIns="0" rIns="0" tIns="0" bIns="0">
            <a:spAutoFit/>
          </a:bodyPr>
          <a:lstStyle/>
          <a:p>
            <a:pPr algn="l">
              <a:spcBef>
                <a:spcPts val="0"/>
              </a:spcBef>
              <a:spcAft>
                <a:spcPts val="200"/>
              </a:spcAft>
              <a:buNone/>
            </a:pPr>
            <a:r>
              <a:rPr sz="1900" b="1">
                <a:solidFill>
                  <a:srgbClr val="1F1F1F"/>
                </a:solidFill>
                <a:latin typeface="Segoe UI Semibold"/>
              </a:rPr>
              <a:t>Live Captions recognizer</a:t>
            </a:r>
          </a:p>
          <a:p>
            <a:pPr algn="l">
              <a:spcBef>
                <a:spcPts val="0"/>
              </a:spcBef>
              <a:spcAft>
                <a:spcPts val="0"/>
              </a:spcAft>
              <a:buNone/>
            </a:pPr>
            <a:r>
              <a:rPr sz="1500" b="0">
                <a:solidFill>
                  <a:srgbClr val="606060"/>
                </a:solidFill>
                <a:latin typeface="Segoe UI"/>
              </a:rPr>
              <a:t>On-device STT that runs great on the CPU, at ~500 MB, no NPU required.</a:t>
            </a:r>
          </a:p>
        </p:txBody>
      </p:sp>
      <p:sp>
        <p:nvSpPr>
          <p:cNvPr id="11" name="Rectangle 10"/>
          <p:cNvSpPr/>
          <p:nvPr/>
        </p:nvSpPr>
        <p:spPr>
          <a:xfrm>
            <a:off x="640080" y="4526280"/>
            <a:ext cx="109728" cy="7498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526280"/>
            <a:ext cx="10424160" cy="749808"/>
          </a:xfrm>
          <a:prstGeom prst="rect">
            <a:avLst/>
          </a:prstGeom>
          <a:noFill/>
        </p:spPr>
        <p:txBody>
          <a:bodyPr wrap="square" lIns="0" rIns="0" tIns="0" bIns="0">
            <a:spAutoFit/>
          </a:bodyPr>
          <a:lstStyle/>
          <a:p>
            <a:pPr algn="l">
              <a:spcBef>
                <a:spcPts val="0"/>
              </a:spcBef>
              <a:spcAft>
                <a:spcPts val="200"/>
              </a:spcAft>
              <a:buNone/>
            </a:pPr>
            <a:r>
              <a:rPr sz="1900" b="1">
                <a:solidFill>
                  <a:srgbClr val="1F1F1F"/>
                </a:solidFill>
                <a:latin typeface="Segoe UI Semibold"/>
              </a:rPr>
              <a:t>Efficient by design</a:t>
            </a:r>
          </a:p>
          <a:p>
            <a:pPr algn="l">
              <a:spcBef>
                <a:spcPts val="0"/>
              </a:spcBef>
              <a:spcAft>
                <a:spcPts val="0"/>
              </a:spcAft>
              <a:buNone/>
            </a:pPr>
            <a:r>
              <a:rPr sz="1500" b="0">
                <a:solidFill>
                  <a:srgbClr val="606060"/>
                </a:solidFill>
                <a:latin typeface="Segoe UI"/>
              </a:rPr>
              <a:t>Light on disk and RAM, fast on an ordinary CPU, and better with an NPU.</a:t>
            </a:r>
          </a:p>
        </p:txBody>
      </p:sp>
      <p:sp>
        <p:nvSpPr>
          <p:cNvPr id="13" name="Rectangle 12"/>
          <p:cNvSpPr/>
          <p:nvPr/>
        </p:nvSpPr>
        <p:spPr>
          <a:xfrm>
            <a:off x="640080" y="5486400"/>
            <a:ext cx="10881360" cy="822960"/>
          </a:xfrm>
          <a:prstGeom prst="rect">
            <a:avLst/>
          </a:prstGeom>
          <a:solidFill>
            <a:srgbClr val="FB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23560"/>
            <a:ext cx="10332720" cy="594360"/>
          </a:xfrm>
          <a:prstGeom prst="rect">
            <a:avLst/>
          </a:prstGeom>
          <a:noFill/>
        </p:spPr>
        <p:txBody>
          <a:bodyPr wrap="square" lIns="0" rIns="0" tIns="0" bIns="0" anchor="ctr">
            <a:spAutoFit/>
          </a:bodyPr>
          <a:lstStyle/>
          <a:p>
            <a:pPr algn="l">
              <a:spcBef>
                <a:spcPts val="0"/>
              </a:spcBef>
              <a:spcAft>
                <a:spcPts val="0"/>
              </a:spcAft>
              <a:buNone/>
            </a:pPr>
            <a:r>
              <a:rPr sz="1600" b="1">
                <a:solidFill>
                  <a:srgbClr val="CA5F00"/>
                </a:solidFill>
                <a:latin typeface="Segoe UI Semibold"/>
              </a:rPr>
              <a:t>Microsoft has the winning tech on the device, and simply doesn't hand it to developers. That is the whole problem, and it is entirely fixable.</a:t>
            </a:r>
          </a:p>
        </p:txBody>
      </p:sp>
      <p:sp>
        <p:nvSpPr>
          <p:cNvPr id="15" name="TextBox 14"/>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6" name="TextBox 15"/>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566160"/>
            <a:ext cx="1371600" cy="82296"/>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31720"/>
            <a:ext cx="10607040" cy="640080"/>
          </a:xfrm>
          <a:prstGeom prst="rect">
            <a:avLst/>
          </a:prstGeom>
          <a:noFill/>
        </p:spPr>
        <p:txBody>
          <a:bodyPr wrap="square" lIns="0" rIns="0" tIns="0" bIns="0">
            <a:spAutoFit/>
          </a:bodyPr>
          <a:lstStyle/>
          <a:p>
            <a:pPr algn="l">
              <a:spcBef>
                <a:spcPts val="0"/>
              </a:spcBef>
              <a:spcAft>
                <a:spcPts val="0"/>
              </a:spcAft>
              <a:buNone/>
            </a:pPr>
            <a:r>
              <a:rPr sz="2200" b="1">
                <a:solidFill>
                  <a:srgbClr val="00998A"/>
                </a:solidFill>
                <a:latin typeface="Segoe UI Semibold"/>
              </a:rPr>
              <a:t>WHAT</a:t>
            </a:r>
          </a:p>
        </p:txBody>
      </p:sp>
      <p:sp>
        <p:nvSpPr>
          <p:cNvPr id="6" name="TextBox 5"/>
          <p:cNvSpPr txBox="1"/>
          <p:nvPr/>
        </p:nvSpPr>
        <p:spPr>
          <a:xfrm>
            <a:off x="777240" y="3886200"/>
            <a:ext cx="10607040" cy="2011680"/>
          </a:xfrm>
          <a:prstGeom prst="rect">
            <a:avLst/>
          </a:prstGeom>
          <a:noFill/>
        </p:spPr>
        <p:txBody>
          <a:bodyPr wrap="square" lIns="0" rIns="0" tIns="0" bIns="0">
            <a:spAutoFit/>
          </a:bodyPr>
          <a:lstStyle/>
          <a:p>
            <a:pPr algn="l">
              <a:spcBef>
                <a:spcPts val="0"/>
              </a:spcBef>
              <a:spcAft>
                <a:spcPts val="1000"/>
              </a:spcAft>
              <a:buNone/>
            </a:pPr>
            <a:r>
              <a:rPr sz="3800" b="1">
                <a:solidFill>
                  <a:srgbClr val="FFFFFF"/>
                </a:solidFill>
                <a:latin typeface="Segoe UI Semibold"/>
              </a:rPr>
              <a:t>Claros: one platform, the whole fleet</a:t>
            </a:r>
          </a:p>
          <a:p>
            <a:pPr algn="l">
              <a:spcBef>
                <a:spcPts val="0"/>
              </a:spcBef>
              <a:spcAft>
                <a:spcPts val="0"/>
              </a:spcAft>
              <a:buNone/>
            </a:pPr>
            <a:r>
              <a:rPr sz="1800" b="0">
                <a:solidFill>
                  <a:srgbClr val="CFE0F3"/>
                </a:solidFill>
                <a:latin typeface="Segoe UI Light"/>
              </a:rPr>
              <a:t>A complete, cohesive speech API that runs beautifully on every Windows 11 PC, Copilot+ or not, because the models are that efficient.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78D4"/>
                </a:solidFill>
                <a:latin typeface="Segoe UI Semibold"/>
              </a:rPr>
              <a:t>WHAT · THE PLATFORM</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One cohesive API: speak, listen, converse</a:t>
            </a:r>
          </a:p>
        </p:txBody>
      </p:sp>
      <p:sp>
        <p:nvSpPr>
          <p:cNvPr id="6" name="TextBox 5"/>
          <p:cNvSpPr txBox="1"/>
          <p:nvPr/>
        </p:nvSpPr>
        <p:spPr>
          <a:xfrm>
            <a:off x="640080" y="1737360"/>
            <a:ext cx="10881360" cy="640080"/>
          </a:xfrm>
          <a:prstGeom prst="rect">
            <a:avLst/>
          </a:prstGeom>
          <a:noFill/>
        </p:spPr>
        <p:txBody>
          <a:bodyPr wrap="square" lIns="0" rIns="0" tIns="0" bIns="0">
            <a:spAutoFit/>
          </a:bodyPr>
          <a:lstStyle/>
          <a:p>
            <a:pPr algn="l">
              <a:spcBef>
                <a:spcPts val="0"/>
              </a:spcBef>
              <a:spcAft>
                <a:spcPts val="0"/>
              </a:spcAft>
              <a:buNone/>
            </a:pPr>
            <a:r>
              <a:rPr sz="1600" b="0">
                <a:solidFill>
                  <a:srgbClr val="1F1F1F"/>
                </a:solidFill>
                <a:latin typeface="Segoe UI"/>
              </a:rPr>
              <a:t>Claros unifies the scattered pieces into a single, consistent surface, and it targets the fleet, not just Copilot+ PCs:</a:t>
            </a:r>
          </a:p>
        </p:txBody>
      </p:sp>
      <p:sp>
        <p:nvSpPr>
          <p:cNvPr id="7" name="Rectangle 6"/>
          <p:cNvSpPr/>
          <p:nvPr/>
        </p:nvSpPr>
        <p:spPr>
          <a:xfrm>
            <a:off x="658368" y="2423160"/>
            <a:ext cx="5257800" cy="150876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423160"/>
            <a:ext cx="109728" cy="1508760"/>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7" y="2642615"/>
            <a:ext cx="4709160" cy="1097280"/>
          </a:xfrm>
          <a:prstGeom prst="rect">
            <a:avLst/>
          </a:prstGeom>
          <a:noFill/>
        </p:spPr>
        <p:txBody>
          <a:bodyPr wrap="square" lIns="0" rIns="0" tIns="0" bIns="0">
            <a:spAutoFit/>
          </a:bodyPr>
          <a:lstStyle/>
          <a:p>
            <a:pPr algn="l">
              <a:spcBef>
                <a:spcPts val="0"/>
              </a:spcBef>
              <a:spcAft>
                <a:spcPts val="600"/>
              </a:spcAft>
              <a:buNone/>
            </a:pPr>
            <a:r>
              <a:rPr sz="1900" b="1">
                <a:solidFill>
                  <a:srgbClr val="1F1F1F"/>
                </a:solidFill>
                <a:latin typeface="Segoe UI Semibold"/>
              </a:rPr>
              <a:t>Speak</a:t>
            </a:r>
          </a:p>
          <a:p>
            <a:pPr algn="l">
              <a:spcBef>
                <a:spcPts val="0"/>
              </a:spcBef>
              <a:spcAft>
                <a:spcPts val="0"/>
              </a:spcAft>
              <a:buNone/>
            </a:pPr>
            <a:r>
              <a:rPr sz="1400" b="0">
                <a:solidFill>
                  <a:srgbClr val="606060"/>
                </a:solidFill>
                <a:latin typeface="Segoe UI"/>
              </a:rPr>
              <a:t>Enumerate installed Natural HD voices and synthesize offline, live, with word-boundary events.</a:t>
            </a:r>
          </a:p>
        </p:txBody>
      </p:sp>
      <p:sp>
        <p:nvSpPr>
          <p:cNvPr id="10" name="Rectangle 9"/>
          <p:cNvSpPr/>
          <p:nvPr/>
        </p:nvSpPr>
        <p:spPr>
          <a:xfrm>
            <a:off x="6272784" y="2423160"/>
            <a:ext cx="5257800" cy="150876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2423160"/>
            <a:ext cx="109728" cy="15087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2642615"/>
            <a:ext cx="4709160" cy="1097280"/>
          </a:xfrm>
          <a:prstGeom prst="rect">
            <a:avLst/>
          </a:prstGeom>
          <a:noFill/>
        </p:spPr>
        <p:txBody>
          <a:bodyPr wrap="square" lIns="0" rIns="0" tIns="0" bIns="0">
            <a:spAutoFit/>
          </a:bodyPr>
          <a:lstStyle/>
          <a:p>
            <a:pPr algn="l">
              <a:spcBef>
                <a:spcPts val="0"/>
              </a:spcBef>
              <a:spcAft>
                <a:spcPts val="600"/>
              </a:spcAft>
              <a:buNone/>
            </a:pPr>
            <a:r>
              <a:rPr sz="1900" b="1">
                <a:solidFill>
                  <a:srgbClr val="1F1F1F"/>
                </a:solidFill>
                <a:latin typeface="Segoe UI Semibold"/>
              </a:rPr>
              <a:t>Listen</a:t>
            </a:r>
          </a:p>
          <a:p>
            <a:pPr algn="l">
              <a:spcBef>
                <a:spcPts val="0"/>
              </a:spcBef>
              <a:spcAft>
                <a:spcPts val="0"/>
              </a:spcAft>
              <a:buNone/>
            </a:pPr>
            <a:r>
              <a:rPr sz="1400" b="0">
                <a:solidFill>
                  <a:srgbClr val="606060"/>
                </a:solidFill>
                <a:latin typeface="Segoe UI"/>
              </a:rPr>
              <a:t>Recognize on-device with the Live Captions engine, one recognizer per source, clean finals.</a:t>
            </a:r>
          </a:p>
        </p:txBody>
      </p:sp>
      <p:sp>
        <p:nvSpPr>
          <p:cNvPr id="13" name="Rectangle 12"/>
          <p:cNvSpPr/>
          <p:nvPr/>
        </p:nvSpPr>
        <p:spPr>
          <a:xfrm>
            <a:off x="658368" y="4114800"/>
            <a:ext cx="5257800" cy="150876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4114800"/>
            <a:ext cx="109728" cy="150876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7" y="4334256"/>
            <a:ext cx="4709160" cy="1097280"/>
          </a:xfrm>
          <a:prstGeom prst="rect">
            <a:avLst/>
          </a:prstGeom>
          <a:noFill/>
        </p:spPr>
        <p:txBody>
          <a:bodyPr wrap="square" lIns="0" rIns="0" tIns="0" bIns="0">
            <a:spAutoFit/>
          </a:bodyPr>
          <a:lstStyle/>
          <a:p>
            <a:pPr algn="l">
              <a:spcBef>
                <a:spcPts val="0"/>
              </a:spcBef>
              <a:spcAft>
                <a:spcPts val="600"/>
              </a:spcAft>
              <a:buNone/>
            </a:pPr>
            <a:r>
              <a:rPr sz="1900" b="1">
                <a:solidFill>
                  <a:srgbClr val="1F1F1F"/>
                </a:solidFill>
                <a:latin typeface="Segoe UI Semibold"/>
              </a:rPr>
              <a:t>Converse</a:t>
            </a:r>
          </a:p>
          <a:p>
            <a:pPr algn="l">
              <a:spcBef>
                <a:spcPts val="0"/>
              </a:spcBef>
              <a:spcAft>
                <a:spcPts val="0"/>
              </a:spcAft>
              <a:buNone/>
            </a:pPr>
            <a:r>
              <a:rPr sz="1400" b="0">
                <a:solidFill>
                  <a:srgbClr val="606060"/>
                </a:solidFill>
                <a:latin typeface="Segoe UI"/>
              </a:rPr>
              <a:t>A full round-trip loop, capture to reply, with barge-in and a place to plug in intelligence.</a:t>
            </a:r>
          </a:p>
        </p:txBody>
      </p:sp>
      <p:sp>
        <p:nvSpPr>
          <p:cNvPr id="16" name="Rectangle 15"/>
          <p:cNvSpPr/>
          <p:nvPr/>
        </p:nvSpPr>
        <p:spPr>
          <a:xfrm>
            <a:off x="6272784" y="4114800"/>
            <a:ext cx="5257800" cy="1508760"/>
          </a:xfrm>
          <a:prstGeom prst="rect">
            <a:avLst/>
          </a:prstGeom>
          <a:solidFill>
            <a:srgbClr val="FFFFFF"/>
          </a:solidFill>
          <a:ln w="12700">
            <a:solidFill>
              <a:srgbClr val="DD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2784" y="4114800"/>
            <a:ext cx="109728" cy="1508760"/>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4334256"/>
            <a:ext cx="4709160" cy="1097280"/>
          </a:xfrm>
          <a:prstGeom prst="rect">
            <a:avLst/>
          </a:prstGeom>
          <a:noFill/>
        </p:spPr>
        <p:txBody>
          <a:bodyPr wrap="square" lIns="0" rIns="0" tIns="0" bIns="0">
            <a:spAutoFit/>
          </a:bodyPr>
          <a:lstStyle/>
          <a:p>
            <a:pPr algn="l">
              <a:spcBef>
                <a:spcPts val="0"/>
              </a:spcBef>
              <a:spcAft>
                <a:spcPts val="600"/>
              </a:spcAft>
              <a:buNone/>
            </a:pPr>
            <a:r>
              <a:rPr sz="1900" b="1">
                <a:solidFill>
                  <a:srgbClr val="1F1F1F"/>
                </a:solidFill>
                <a:latin typeface="Segoe UI Semibold"/>
              </a:rPr>
              <a:t>Fleet-wide &amp; efficient</a:t>
            </a:r>
          </a:p>
          <a:p>
            <a:pPr algn="l">
              <a:spcBef>
                <a:spcPts val="0"/>
              </a:spcBef>
              <a:spcAft>
                <a:spcPts val="0"/>
              </a:spcAft>
              <a:buNone/>
            </a:pPr>
            <a:r>
              <a:rPr sz="1400" b="0">
                <a:solidFill>
                  <a:srgbClr val="606060"/>
                </a:solidFill>
                <a:latin typeface="Segoe UI"/>
              </a:rPr>
              <a:t>Runs great on CPU, better on NPU. Local-first and free; same code scales to Azure.</a:t>
            </a:r>
          </a:p>
        </p:txBody>
      </p:sp>
      <p:sp>
        <p:nvSpPr>
          <p:cNvPr id="19" name="TextBox 18"/>
          <p:cNvSpPr txBox="1"/>
          <p:nvPr/>
        </p:nvSpPr>
        <p:spPr>
          <a:xfrm>
            <a:off x="640080" y="5806440"/>
            <a:ext cx="10881360" cy="548640"/>
          </a:xfrm>
          <a:prstGeom prst="rect">
            <a:avLst/>
          </a:prstGeom>
          <a:noFill/>
        </p:spPr>
        <p:txBody>
          <a:bodyPr wrap="square" lIns="0" rIns="0" tIns="0" bIns="0">
            <a:spAutoFit/>
          </a:bodyPr>
          <a:lstStyle/>
          <a:p>
            <a:pPr algn="l">
              <a:spcBef>
                <a:spcPts val="0"/>
              </a:spcBef>
              <a:spcAft>
                <a:spcPts val="0"/>
              </a:spcAft>
              <a:buNone/>
            </a:pPr>
            <a:r>
              <a:rPr sz="1600" b="1">
                <a:solidFill>
                  <a:srgbClr val="103A5E"/>
                </a:solidFill>
                <a:latin typeface="Segoe UI Semibold"/>
              </a:rPr>
              <a:t>One name, one shape, whole fleet. Claros is what ‘Windows.Speech’ should be: a platform a developer can just pick up, and their customers can actually run.</a:t>
            </a:r>
          </a:p>
        </p:txBody>
      </p:sp>
      <p:sp>
        <p:nvSpPr>
          <p:cNvPr id="20" name="TextBox 19"/>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21" name="TextBox 20"/>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998A"/>
                </a:solidFill>
                <a:latin typeface="Segoe UI Semibold"/>
              </a:rPr>
              <a:t>WHAT IT ENABLES · THE PAYOFF</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Amazing quality, generated in real time</a:t>
            </a:r>
          </a:p>
        </p:txBody>
      </p:sp>
      <p:sp>
        <p:nvSpPr>
          <p:cNvPr id="6" name="VIDEO_FRAME"/>
          <p:cNvSpPr/>
          <p:nvPr/>
        </p:nvSpPr>
        <p:spPr>
          <a:xfrm>
            <a:off x="640080" y="1783080"/>
            <a:ext cx="7040880" cy="3977639"/>
          </a:xfrm>
          <a:prstGeom prst="rect">
            <a:avLst/>
          </a:prstGeom>
          <a:solidFill>
            <a:srgbClr val="0B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IDEO_PLAY"/>
          <p:cNvSpPr/>
          <p:nvPr/>
        </p:nvSpPr>
        <p:spPr>
          <a:xfrm>
            <a:off x="3794760" y="3429000"/>
            <a:ext cx="731520" cy="731520"/>
          </a:xfrm>
          <a:prstGeom prst="ellipse">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_PLAY_TRI"/>
          <p:cNvSpPr/>
          <p:nvPr/>
        </p:nvSpPr>
        <p:spPr>
          <a:xfrm rot="5400000">
            <a:off x="4041648" y="3611880"/>
            <a:ext cx="292608" cy="36576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257800"/>
            <a:ext cx="6675120" cy="365760"/>
          </a:xfrm>
          <a:prstGeom prst="rect">
            <a:avLst/>
          </a:prstGeom>
          <a:noFill/>
        </p:spPr>
        <p:txBody>
          <a:bodyPr wrap="square" lIns="0" rIns="0" tIns="0" bIns="0">
            <a:spAutoFit/>
          </a:bodyPr>
          <a:lstStyle/>
          <a:p>
            <a:pPr algn="l">
              <a:spcBef>
                <a:spcPts val="0"/>
              </a:spcBef>
              <a:spcAft>
                <a:spcPts val="0"/>
              </a:spcAft>
              <a:buNone/>
            </a:pPr>
            <a:r>
              <a:rPr sz="1300" b="0">
                <a:solidFill>
                  <a:srgbClr val="CFE0F3"/>
                </a:solidFill>
                <a:latin typeface="Segoe UI"/>
              </a:rPr>
              <a:t>WinUI sample · live on-device voiceover from a subtitle track</a:t>
            </a:r>
          </a:p>
        </p:txBody>
      </p:sp>
      <p:sp>
        <p:nvSpPr>
          <p:cNvPr id="10" name="TextBox 9"/>
          <p:cNvSpPr txBox="1"/>
          <p:nvPr/>
        </p:nvSpPr>
        <p:spPr>
          <a:xfrm>
            <a:off x="8001000" y="1828800"/>
            <a:ext cx="3611880" cy="3931920"/>
          </a:xfrm>
          <a:prstGeom prst="rect">
            <a:avLst/>
          </a:prstGeom>
          <a:noFill/>
        </p:spPr>
        <p:txBody>
          <a:bodyPr wrap="square" lIns="0" rIns="0" tIns="0" bIns="0">
            <a:spAutoFit/>
          </a:bodyPr>
          <a:lstStyle/>
          <a:p>
            <a:pPr algn="l">
              <a:spcBef>
                <a:spcPts val="0"/>
              </a:spcBef>
              <a:spcAft>
                <a:spcPts val="1200"/>
              </a:spcAft>
              <a:buNone/>
            </a:pPr>
            <a:r>
              <a:rPr sz="1600" b="1">
                <a:solidFill>
                  <a:srgbClr val="103A5E"/>
                </a:solidFill>
                <a:latin typeface="Segoe UI Semibold"/>
              </a:rPr>
              <a:t>This is the value it unlocks: studio-grade speech, generated live on the device, for free.</a:t>
            </a:r>
          </a:p>
          <a:p>
            <a:pPr algn="l">
              <a:spcBef>
                <a:spcPts val="0"/>
              </a:spcBef>
              <a:spcAft>
                <a:spcPts val="1200"/>
              </a:spcAft>
              <a:buFont typeface="Segoe UI"/>
              <a:buChar char="•"/>
            </a:pPr>
            <a:r>
              <a:rPr sz="1450" b="0">
                <a:solidFill>
                  <a:srgbClr val="1F1F1F"/>
                </a:solidFill>
                <a:latin typeface="Segoe UI"/>
              </a:rPr>
              <a:t>Indistinguishable from cloud neural voices, running fully offline.</a:t>
            </a:r>
          </a:p>
          <a:p>
            <a:pPr algn="l">
              <a:spcBef>
                <a:spcPts val="0"/>
              </a:spcBef>
              <a:spcAft>
                <a:spcPts val="1200"/>
              </a:spcAft>
              <a:buFont typeface="Segoe UI"/>
              <a:buChar char="•"/>
            </a:pPr>
            <a:r>
              <a:rPr sz="1450" b="0">
                <a:solidFill>
                  <a:srgbClr val="1F1F1F"/>
                </a:solidFill>
                <a:latin typeface="Segoe UI"/>
              </a:rPr>
              <a:t>Generated in real time on an ordinary CPU, no NPU, no wait.</a:t>
            </a:r>
          </a:p>
          <a:p>
            <a:pPr algn="l">
              <a:spcBef>
                <a:spcPts val="0"/>
              </a:spcBef>
              <a:spcAft>
                <a:spcPts val="1200"/>
              </a:spcAft>
              <a:buFont typeface="Segoe UI"/>
              <a:buChar char="•"/>
            </a:pPr>
            <a:r>
              <a:rPr sz="1450" b="0">
                <a:solidFill>
                  <a:srgbClr val="1F1F1F"/>
                </a:solidFill>
                <a:latin typeface="Segoe UI"/>
              </a:rPr>
              <a:t>Delivers the modern Microsoft mission: unmetered intelligence on every desk and in every home.</a:t>
            </a:r>
          </a:p>
        </p:txBody>
      </p:sp>
      <p:sp>
        <p:nvSpPr>
          <p:cNvPr id="11" name="TextBox 10"/>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2" name="TextBox 11"/>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998A"/>
                </a:solidFill>
                <a:latin typeface="Segoe UI Semibold"/>
              </a:rPr>
              <a:t>WHAT IT ENABLES · POWERPOINT</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Narrate every deck, with zero cloud cost</a:t>
            </a:r>
          </a:p>
        </p:txBody>
      </p:sp>
      <p:sp>
        <p:nvSpPr>
          <p:cNvPr id="6" name="Rectangle 5"/>
          <p:cNvSpPr/>
          <p:nvPr/>
        </p:nvSpPr>
        <p:spPr>
          <a:xfrm>
            <a:off x="658368" y="1965960"/>
            <a:ext cx="5257800" cy="315468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65960"/>
            <a:ext cx="5257800" cy="566928"/>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075688"/>
            <a:ext cx="4663440" cy="457200"/>
          </a:xfrm>
          <a:prstGeom prst="rect">
            <a:avLst/>
          </a:prstGeom>
          <a:noFill/>
        </p:spPr>
        <p:txBody>
          <a:bodyPr wrap="square" lIns="0" rIns="0" tIns="0" bIns="0">
            <a:spAutoFit/>
          </a:bodyPr>
          <a:lstStyle/>
          <a:p>
            <a:pPr algn="l">
              <a:spcBef>
                <a:spcPts val="0"/>
              </a:spcBef>
              <a:spcAft>
                <a:spcPts val="0"/>
              </a:spcAft>
              <a:buNone/>
            </a:pPr>
            <a:r>
              <a:rPr sz="1700" b="1">
                <a:solidFill>
                  <a:srgbClr val="FFFFFF"/>
                </a:solidFill>
                <a:latin typeface="Segoe UI Semibold"/>
              </a:rPr>
              <a:t>POWERPOINT + CLAROS</a:t>
            </a:r>
          </a:p>
        </p:txBody>
      </p:sp>
      <p:sp>
        <p:nvSpPr>
          <p:cNvPr id="9" name="TextBox 8"/>
          <p:cNvSpPr txBox="1"/>
          <p:nvPr/>
        </p:nvSpPr>
        <p:spPr>
          <a:xfrm>
            <a:off x="950976" y="2743200"/>
            <a:ext cx="4663440" cy="2240280"/>
          </a:xfrm>
          <a:prstGeom prst="rect">
            <a:avLst/>
          </a:prstGeom>
          <a:noFill/>
        </p:spPr>
        <p:txBody>
          <a:bodyPr wrap="square" lIns="0" rIns="0" tIns="0" bIns="0">
            <a:spAutoFit/>
          </a:bodyPr>
          <a:lstStyle/>
          <a:p>
            <a:pPr algn="l">
              <a:spcBef>
                <a:spcPts val="0"/>
              </a:spcBef>
              <a:spcAft>
                <a:spcPts val="1000"/>
              </a:spcAft>
              <a:buFont typeface="Segoe UI"/>
              <a:buChar char="•"/>
            </a:pPr>
            <a:r>
              <a:rPr sz="1450" b="0">
                <a:solidFill>
                  <a:srgbClr val="1F1F1F"/>
                </a:solidFill>
                <a:latin typeface="Segoe UI"/>
              </a:rPr>
              <a:t>Speaker notes become the narration script, one per slide.</a:t>
            </a:r>
          </a:p>
          <a:p>
            <a:pPr algn="l">
              <a:spcBef>
                <a:spcPts val="0"/>
              </a:spcBef>
              <a:spcAft>
                <a:spcPts val="1000"/>
              </a:spcAft>
              <a:buFont typeface="Segoe UI"/>
              <a:buChar char="•"/>
            </a:pPr>
            <a:r>
              <a:rPr sz="1450" b="0">
                <a:solidFill>
                  <a:srgbClr val="1F1F1F"/>
                </a:solidFill>
                <a:latin typeface="Segoe UI"/>
              </a:rPr>
              <a:t>Render the deck to a fully narrated MP4, on the device.</a:t>
            </a:r>
          </a:p>
          <a:p>
            <a:pPr algn="l">
              <a:spcBef>
                <a:spcPts val="0"/>
              </a:spcBef>
              <a:spcAft>
                <a:spcPts val="1000"/>
              </a:spcAft>
              <a:buFont typeface="Segoe UI"/>
              <a:buChar char="•"/>
            </a:pPr>
            <a:r>
              <a:rPr sz="1450" b="0">
                <a:solidFill>
                  <a:srgbClr val="1F1F1F"/>
                </a:solidFill>
                <a:latin typeface="Segoe UI"/>
              </a:rPr>
              <a:t>One deck, many languages, no re-recording.</a:t>
            </a:r>
          </a:p>
          <a:p>
            <a:pPr algn="l">
              <a:spcBef>
                <a:spcPts val="0"/>
              </a:spcBef>
              <a:spcAft>
                <a:spcPts val="1000"/>
              </a:spcAft>
              <a:buFont typeface="Segoe UI"/>
              <a:buChar char="•"/>
            </a:pPr>
            <a:r>
              <a:rPr sz="1450" b="0">
                <a:solidFill>
                  <a:srgbClr val="1F1F1F"/>
                </a:solidFill>
                <a:latin typeface="Segoe UI"/>
              </a:rPr>
              <a:t>Zero cloud cost: nothing is metered, nothing leaves the machine.</a:t>
            </a:r>
          </a:p>
        </p:txBody>
      </p:sp>
      <p:sp>
        <p:nvSpPr>
          <p:cNvPr id="10" name="Rectangle 9"/>
          <p:cNvSpPr/>
          <p:nvPr/>
        </p:nvSpPr>
        <p:spPr>
          <a:xfrm>
            <a:off x="6272784" y="1965960"/>
            <a:ext cx="5257800" cy="315468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1965960"/>
            <a:ext cx="5257800" cy="566928"/>
          </a:xfrm>
          <a:prstGeom prst="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2075688"/>
            <a:ext cx="4663440" cy="457200"/>
          </a:xfrm>
          <a:prstGeom prst="rect">
            <a:avLst/>
          </a:prstGeom>
          <a:noFill/>
        </p:spPr>
        <p:txBody>
          <a:bodyPr wrap="square" lIns="0" rIns="0" tIns="0" bIns="0">
            <a:spAutoFit/>
          </a:bodyPr>
          <a:lstStyle/>
          <a:p>
            <a:pPr algn="l">
              <a:spcBef>
                <a:spcPts val="0"/>
              </a:spcBef>
              <a:spcAft>
                <a:spcPts val="0"/>
              </a:spcAft>
              <a:buNone/>
            </a:pPr>
            <a:r>
              <a:rPr sz="1700" b="1">
                <a:solidFill>
                  <a:srgbClr val="FFFFFF"/>
                </a:solidFill>
                <a:latin typeface="Segoe UI Semibold"/>
              </a:rPr>
              <a:t>CLOUD VIDEO TOOLS (e.g. Synthesia)</a:t>
            </a:r>
          </a:p>
        </p:txBody>
      </p:sp>
      <p:sp>
        <p:nvSpPr>
          <p:cNvPr id="13" name="TextBox 12"/>
          <p:cNvSpPr txBox="1"/>
          <p:nvPr/>
        </p:nvSpPr>
        <p:spPr>
          <a:xfrm>
            <a:off x="6565392" y="2743200"/>
            <a:ext cx="4663440" cy="2240280"/>
          </a:xfrm>
          <a:prstGeom prst="rect">
            <a:avLst/>
          </a:prstGeom>
          <a:noFill/>
        </p:spPr>
        <p:txBody>
          <a:bodyPr wrap="square" lIns="0" rIns="0" tIns="0" bIns="0">
            <a:spAutoFit/>
          </a:bodyPr>
          <a:lstStyle/>
          <a:p>
            <a:pPr algn="l">
              <a:spcBef>
                <a:spcPts val="0"/>
              </a:spcBef>
              <a:spcAft>
                <a:spcPts val="1000"/>
              </a:spcAft>
              <a:buFont typeface="Segoe UI"/>
              <a:buChar char="•"/>
            </a:pPr>
            <a:r>
              <a:rPr sz="1450" b="0">
                <a:solidFill>
                  <a:srgbClr val="1F1F1F"/>
                </a:solidFill>
                <a:latin typeface="Segoe UI"/>
              </a:rPr>
              <a:t>Per-minute or subscription cloud cost.</a:t>
            </a:r>
          </a:p>
          <a:p>
            <a:pPr algn="l">
              <a:spcBef>
                <a:spcPts val="0"/>
              </a:spcBef>
              <a:spcAft>
                <a:spcPts val="1000"/>
              </a:spcAft>
              <a:buFont typeface="Segoe UI"/>
              <a:buChar char="•"/>
            </a:pPr>
            <a:r>
              <a:rPr sz="1450" b="0">
                <a:solidFill>
                  <a:srgbClr val="1F1F1F"/>
                </a:solidFill>
                <a:latin typeface="Segoe UI"/>
              </a:rPr>
              <a:t>Script and slides leave the org to render.</a:t>
            </a:r>
          </a:p>
          <a:p>
            <a:pPr algn="l">
              <a:spcBef>
                <a:spcPts val="0"/>
              </a:spcBef>
              <a:spcAft>
                <a:spcPts val="1000"/>
              </a:spcAft>
              <a:buFont typeface="Segoe UI"/>
              <a:buChar char="•"/>
            </a:pPr>
            <a:r>
              <a:rPr sz="1450" b="0">
                <a:solidFill>
                  <a:srgbClr val="1F1F1F"/>
                </a:solidFill>
                <a:latin typeface="Segoe UI"/>
              </a:rPr>
              <a:t>Online-only; a separate tool and export step.</a:t>
            </a:r>
          </a:p>
          <a:p>
            <a:pPr algn="l">
              <a:spcBef>
                <a:spcPts val="0"/>
              </a:spcBef>
              <a:spcAft>
                <a:spcPts val="1000"/>
              </a:spcAft>
              <a:buFont typeface="Segoe UI"/>
              <a:buChar char="•"/>
            </a:pPr>
            <a:r>
              <a:rPr sz="1450" b="0">
                <a:solidFill>
                  <a:srgbClr val="1F1F1F"/>
                </a:solidFill>
                <a:latin typeface="Segoe UI"/>
              </a:rPr>
              <a:t>No on-device, private, or free tier.</a:t>
            </a:r>
          </a:p>
        </p:txBody>
      </p:sp>
      <p:sp>
        <p:nvSpPr>
          <p:cNvPr id="14" name="TextBox 13"/>
          <p:cNvSpPr txBox="1"/>
          <p:nvPr/>
        </p:nvSpPr>
        <p:spPr>
          <a:xfrm>
            <a:off x="658368" y="5440680"/>
            <a:ext cx="10881360" cy="731520"/>
          </a:xfrm>
          <a:prstGeom prst="rect">
            <a:avLst/>
          </a:prstGeom>
          <a:noFill/>
        </p:spPr>
        <p:txBody>
          <a:bodyPr wrap="square" lIns="0" rIns="0" tIns="0" bIns="0">
            <a:spAutoFit/>
          </a:bodyPr>
          <a:lstStyle/>
          <a:p>
            <a:pPr algn="l">
              <a:spcBef>
                <a:spcPts val="0"/>
              </a:spcBef>
              <a:spcAft>
                <a:spcPts val="0"/>
              </a:spcAft>
              <a:buNone/>
            </a:pPr>
            <a:r>
              <a:rPr sz="1600" b="1">
                <a:solidFill>
                  <a:srgbClr val="103A5E"/>
                </a:solidFill>
                <a:latin typeface="Segoe UI Semibold"/>
              </a:rPr>
              <a:t>Clipchamp and PowerPoint voiceover run on Azure today; Claros makes the same narration local and free. Even this deck could narrate itself, on-device.</a:t>
            </a:r>
          </a:p>
        </p:txBody>
      </p:sp>
      <p:sp>
        <p:nvSpPr>
          <p:cNvPr id="15" name="TextBox 14"/>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6" name="TextBox 15"/>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566160"/>
            <a:ext cx="1371600" cy="82296"/>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31720"/>
            <a:ext cx="10607040" cy="640080"/>
          </a:xfrm>
          <a:prstGeom prst="rect">
            <a:avLst/>
          </a:prstGeom>
          <a:noFill/>
        </p:spPr>
        <p:txBody>
          <a:bodyPr wrap="square" lIns="0" rIns="0" tIns="0" bIns="0">
            <a:spAutoFit/>
          </a:bodyPr>
          <a:lstStyle/>
          <a:p>
            <a:pPr algn="l">
              <a:spcBef>
                <a:spcPts val="0"/>
              </a:spcBef>
              <a:spcAft>
                <a:spcPts val="0"/>
              </a:spcAft>
              <a:buNone/>
            </a:pPr>
            <a:r>
              <a:rPr sz="2200" b="1">
                <a:solidFill>
                  <a:srgbClr val="00998A"/>
                </a:solidFill>
                <a:latin typeface="Segoe UI Semibold"/>
              </a:rPr>
              <a:t>PROOF</a:t>
            </a:r>
          </a:p>
        </p:txBody>
      </p:sp>
      <p:sp>
        <p:nvSpPr>
          <p:cNvPr id="6" name="TextBox 5"/>
          <p:cNvSpPr txBox="1"/>
          <p:nvPr/>
        </p:nvSpPr>
        <p:spPr>
          <a:xfrm>
            <a:off x="777240" y="3886200"/>
            <a:ext cx="10607040" cy="2011680"/>
          </a:xfrm>
          <a:prstGeom prst="rect">
            <a:avLst/>
          </a:prstGeom>
          <a:noFill/>
        </p:spPr>
        <p:txBody>
          <a:bodyPr wrap="square" lIns="0" rIns="0" tIns="0" bIns="0">
            <a:spAutoFit/>
          </a:bodyPr>
          <a:lstStyle/>
          <a:p>
            <a:pPr algn="l">
              <a:spcBef>
                <a:spcPts val="0"/>
              </a:spcBef>
              <a:spcAft>
                <a:spcPts val="1000"/>
              </a:spcAft>
              <a:buNone/>
            </a:pPr>
            <a:r>
              <a:rPr sz="3800" b="1">
                <a:solidFill>
                  <a:srgbClr val="FFFFFF"/>
                </a:solidFill>
                <a:latin typeface="Segoe UI Semibold"/>
              </a:rPr>
              <a:t>Efficient enough to change what teams can build</a:t>
            </a:r>
          </a:p>
          <a:p>
            <a:pPr algn="l">
              <a:spcBef>
                <a:spcPts val="0"/>
              </a:spcBef>
              <a:spcAft>
                <a:spcPts val="0"/>
              </a:spcAft>
              <a:buNone/>
            </a:pPr>
            <a:r>
              <a:rPr sz="1800" b="0">
                <a:solidFill>
                  <a:srgbClr val="CFE0F3"/>
                </a:solidFill>
                <a:latin typeface="Segoe UI Light"/>
              </a:rPr>
              <a:t>The clearest proof isn't a benchmark, it's a real product that couldn't ship until the speech got this light.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78D4"/>
                </a:solidFill>
                <a:latin typeface="Segoe UI Semibold"/>
              </a:rPr>
              <a:t>PROOF · CONTOSO FINANCE</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From ‘barely runs’ to ‘room for a local LLM’</a:t>
            </a:r>
          </a:p>
        </p:txBody>
      </p:sp>
      <p:sp>
        <p:nvSpPr>
          <p:cNvPr id="6" name="TextBox 5"/>
          <p:cNvSpPr txBox="1"/>
          <p:nvPr/>
        </p:nvSpPr>
        <p:spPr>
          <a:xfrm>
            <a:off x="640080" y="1737360"/>
            <a:ext cx="10881360" cy="594360"/>
          </a:xfrm>
          <a:prstGeom prst="rect">
            <a:avLst/>
          </a:prstGeom>
          <a:noFill/>
        </p:spPr>
        <p:txBody>
          <a:bodyPr wrap="square" lIns="0" rIns="0" tIns="0" bIns="0">
            <a:spAutoFit/>
          </a:bodyPr>
          <a:lstStyle/>
          <a:p>
            <a:pPr algn="l">
              <a:spcBef>
                <a:spcPts val="0"/>
              </a:spcBef>
              <a:spcAft>
                <a:spcPts val="0"/>
              </a:spcAft>
              <a:buNone/>
            </a:pPr>
            <a:r>
              <a:rPr sz="1600" b="0">
                <a:solidFill>
                  <a:srgbClr val="1F1F1F"/>
                </a:solidFill>
                <a:latin typeface="Segoe UI"/>
              </a:rPr>
              <a:t>Contoso Finance transcribes two-party advisor calls on the analyst's own PC. On a 16 GB machine, the speech engine decided whether the app could exist:</a:t>
            </a:r>
          </a:p>
        </p:txBody>
      </p:sp>
      <p:sp>
        <p:nvSpPr>
          <p:cNvPr id="7" name="Rectangle 6"/>
          <p:cNvSpPr/>
          <p:nvPr/>
        </p:nvSpPr>
        <p:spPr>
          <a:xfrm>
            <a:off x="658368" y="2468880"/>
            <a:ext cx="5257800" cy="2103120"/>
          </a:xfrm>
          <a:prstGeom prst="rect">
            <a:avLst/>
          </a:prstGeom>
          <a:solidFill>
            <a:srgbClr val="FB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468880"/>
            <a:ext cx="5257800" cy="548640"/>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569464"/>
            <a:ext cx="4709160" cy="457200"/>
          </a:xfrm>
          <a:prstGeom prst="rect">
            <a:avLst/>
          </a:prstGeom>
          <a:noFill/>
        </p:spPr>
        <p:txBody>
          <a:bodyPr wrap="square" lIns="0" rIns="0" tIns="0" bIns="0">
            <a:spAutoFit/>
          </a:bodyPr>
          <a:lstStyle/>
          <a:p>
            <a:pPr algn="l">
              <a:spcBef>
                <a:spcPts val="0"/>
              </a:spcBef>
              <a:spcAft>
                <a:spcPts val="0"/>
              </a:spcAft>
              <a:buNone/>
            </a:pPr>
            <a:r>
              <a:rPr sz="1500" b="1">
                <a:solidFill>
                  <a:srgbClr val="FFFFFF"/>
                </a:solidFill>
                <a:latin typeface="Segoe UI Semibold"/>
              </a:rPr>
              <a:t>BEFORE · Whisper (NPU or CPU)</a:t>
            </a:r>
          </a:p>
        </p:txBody>
      </p:sp>
      <p:sp>
        <p:nvSpPr>
          <p:cNvPr id="10" name="TextBox 9"/>
          <p:cNvSpPr txBox="1"/>
          <p:nvPr/>
        </p:nvSpPr>
        <p:spPr>
          <a:xfrm>
            <a:off x="932688" y="3154680"/>
            <a:ext cx="4709160" cy="1325880"/>
          </a:xfrm>
          <a:prstGeom prst="rect">
            <a:avLst/>
          </a:prstGeom>
          <a:noFill/>
        </p:spPr>
        <p:txBody>
          <a:bodyPr wrap="square" lIns="0" rIns="0" tIns="0" bIns="0">
            <a:spAutoFit/>
          </a:bodyPr>
          <a:lstStyle/>
          <a:p>
            <a:pPr algn="l">
              <a:spcBef>
                <a:spcPts val="0"/>
              </a:spcBef>
              <a:spcAft>
                <a:spcPts val="200"/>
              </a:spcAft>
              <a:buNone/>
            </a:pPr>
            <a:r>
              <a:rPr sz="3800" b="1">
                <a:solidFill>
                  <a:srgbClr val="CA5F00"/>
                </a:solidFill>
                <a:latin typeface="Segoe UI Semibold"/>
              </a:rPr>
              <a:t>≈ 4 GB</a:t>
            </a:r>
          </a:p>
          <a:p>
            <a:pPr algn="l">
              <a:spcBef>
                <a:spcPts val="0"/>
              </a:spcBef>
              <a:spcAft>
                <a:spcPts val="0"/>
              </a:spcAft>
              <a:buNone/>
            </a:pPr>
            <a:r>
              <a:rPr sz="1450" b="0">
                <a:solidFill>
                  <a:srgbClr val="1F1F1F"/>
                </a:solidFill>
                <a:latin typeface="Segoe UI"/>
              </a:rPr>
              <a:t>just for speech, on a 16 GB PC. Almost no headroom left, and ~4× the memory of the Mac doing the same job.</a:t>
            </a:r>
          </a:p>
        </p:txBody>
      </p:sp>
      <p:sp>
        <p:nvSpPr>
          <p:cNvPr id="11" name="Rectangle 10"/>
          <p:cNvSpPr/>
          <p:nvPr/>
        </p:nvSpPr>
        <p:spPr>
          <a:xfrm>
            <a:off x="6272784" y="2468880"/>
            <a:ext cx="5257800" cy="2103120"/>
          </a:xfrm>
          <a:prstGeom prst="rect">
            <a:avLst/>
          </a:prstGeom>
          <a:solidFill>
            <a:srgbClr val="E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2784" y="2468880"/>
            <a:ext cx="5257800" cy="548640"/>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7104" y="2569464"/>
            <a:ext cx="4709160" cy="457200"/>
          </a:xfrm>
          <a:prstGeom prst="rect">
            <a:avLst/>
          </a:prstGeom>
          <a:noFill/>
        </p:spPr>
        <p:txBody>
          <a:bodyPr wrap="square" lIns="0" rIns="0" tIns="0" bIns="0">
            <a:spAutoFit/>
          </a:bodyPr>
          <a:lstStyle/>
          <a:p>
            <a:pPr algn="l">
              <a:spcBef>
                <a:spcPts val="0"/>
              </a:spcBef>
              <a:spcAft>
                <a:spcPts val="0"/>
              </a:spcAft>
              <a:buNone/>
            </a:pPr>
            <a:r>
              <a:rPr sz="1500" b="1">
                <a:solidFill>
                  <a:srgbClr val="FFFFFF"/>
                </a:solidFill>
                <a:latin typeface="Segoe UI Semibold"/>
              </a:rPr>
              <a:t>AFTER · Claros</a:t>
            </a:r>
          </a:p>
        </p:txBody>
      </p:sp>
      <p:sp>
        <p:nvSpPr>
          <p:cNvPr id="14" name="TextBox 13"/>
          <p:cNvSpPr txBox="1"/>
          <p:nvPr/>
        </p:nvSpPr>
        <p:spPr>
          <a:xfrm>
            <a:off x="6547104" y="3154680"/>
            <a:ext cx="4709160" cy="1325880"/>
          </a:xfrm>
          <a:prstGeom prst="rect">
            <a:avLst/>
          </a:prstGeom>
          <a:noFill/>
        </p:spPr>
        <p:txBody>
          <a:bodyPr wrap="square" lIns="0" rIns="0" tIns="0" bIns="0">
            <a:spAutoFit/>
          </a:bodyPr>
          <a:lstStyle/>
          <a:p>
            <a:pPr algn="l">
              <a:spcBef>
                <a:spcPts val="0"/>
              </a:spcBef>
              <a:spcAft>
                <a:spcPts val="200"/>
              </a:spcAft>
              <a:buNone/>
            </a:pPr>
            <a:r>
              <a:rPr sz="3800" b="1">
                <a:solidFill>
                  <a:srgbClr val="00998A"/>
                </a:solidFill>
                <a:latin typeface="Segoe UI Semibold"/>
              </a:rPr>
              <a:t>≈ 500 MB</a:t>
            </a:r>
          </a:p>
          <a:p>
            <a:pPr algn="l">
              <a:spcBef>
                <a:spcPts val="0"/>
              </a:spcBef>
              <a:spcAft>
                <a:spcPts val="0"/>
              </a:spcAft>
              <a:buNone/>
            </a:pPr>
            <a:r>
              <a:rPr sz="1450" b="0">
                <a:solidFill>
                  <a:srgbClr val="1F1F1F"/>
                </a:solidFill>
                <a:latin typeface="Segoe UI"/>
              </a:rPr>
              <a:t>same transcription, same accuracy, at roughly the Mac's footprint, freeing gigabytes back to the machine.</a:t>
            </a:r>
          </a:p>
        </p:txBody>
      </p:sp>
      <p:sp>
        <p:nvSpPr>
          <p:cNvPr id="15" name="Right Arrow 14"/>
          <p:cNvSpPr/>
          <p:nvPr/>
        </p:nvSpPr>
        <p:spPr>
          <a:xfrm>
            <a:off x="5852160" y="3383280"/>
            <a:ext cx="502920" cy="365760"/>
          </a:xfrm>
          <a:prstGeom prst="right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846320"/>
            <a:ext cx="10881360" cy="1143000"/>
          </a:xfrm>
          <a:prstGeom prst="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10912"/>
            <a:ext cx="10332720" cy="822960"/>
          </a:xfrm>
          <a:prstGeom prst="rect">
            <a:avLst/>
          </a:prstGeom>
          <a:noFill/>
        </p:spPr>
        <p:txBody>
          <a:bodyPr wrap="square" lIns="0" rIns="0" tIns="0" bIns="0" anchor="ctr">
            <a:spAutoFit/>
          </a:bodyPr>
          <a:lstStyle/>
          <a:p>
            <a:pPr algn="l">
              <a:spcBef>
                <a:spcPts val="0"/>
              </a:spcBef>
              <a:spcAft>
                <a:spcPts val="0"/>
              </a:spcAft>
              <a:buNone/>
            </a:pPr>
            <a:r>
              <a:rPr sz="1600" b="1">
                <a:solidFill>
                  <a:srgbClr val="103A5E"/>
                </a:solidFill>
                <a:latin typeface="Segoe UI Semibold"/>
              </a:rPr>
              <a:t>That freed memory does two things: it lets the app ship on a normal 16 GB PC at all, and it leaves room to run a local LLM alongside the transcription, impossible today under Whisper's memory pressure. Efficiency is what makes on-device intelligence practical.</a:t>
            </a:r>
          </a:p>
        </p:txBody>
      </p:sp>
      <p:sp>
        <p:nvSpPr>
          <p:cNvPr id="18" name="TextBox 17"/>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9" name="TextBox 18"/>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78D4"/>
                </a:solidFill>
                <a:latin typeface="Segoe UI Semibold"/>
              </a:rPr>
              <a:t>PROOF · THE NUMBERS</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Mac-class footprint on ordinary CPU silicon</a:t>
            </a:r>
          </a:p>
        </p:txBody>
      </p:sp>
      <p:sp>
        <p:nvSpPr>
          <p:cNvPr id="6" name="TextBox 5"/>
          <p:cNvSpPr txBox="1"/>
          <p:nvPr/>
        </p:nvSpPr>
        <p:spPr>
          <a:xfrm>
            <a:off x="640080" y="1600200"/>
            <a:ext cx="10881360" cy="457200"/>
          </a:xfrm>
          <a:prstGeom prst="rect">
            <a:avLst/>
          </a:prstGeom>
          <a:noFill/>
        </p:spPr>
        <p:txBody>
          <a:bodyPr wrap="square" lIns="0" rIns="0" tIns="0" bIns="0">
            <a:spAutoFit/>
          </a:bodyPr>
          <a:lstStyle/>
          <a:p>
            <a:pPr algn="l">
              <a:spcBef>
                <a:spcPts val="0"/>
              </a:spcBef>
              <a:spcAft>
                <a:spcPts val="0"/>
              </a:spcAft>
              <a:buNone/>
            </a:pPr>
            <a:r>
              <a:rPr sz="1350" b="0">
                <a:solidFill>
                  <a:srgbClr val="606060"/>
                </a:solidFill>
                <a:latin typeface="Segoe UI"/>
              </a:rPr>
              <a:t>Real 58 s two-party mortgage call, normalized to a 2-leg call (one recognizer per speaker); single-stream engines doubled.</a:t>
            </a:r>
          </a:p>
        </p:txBody>
      </p:sp>
      <p:sp>
        <p:nvSpPr>
          <p:cNvPr id="7" name="Rectangle 6"/>
          <p:cNvSpPr/>
          <p:nvPr/>
        </p:nvSpPr>
        <p:spPr>
          <a:xfrm>
            <a:off x="640080" y="2011680"/>
            <a:ext cx="10881360" cy="4572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2011680"/>
            <a:ext cx="3246120" cy="457200"/>
          </a:xfrm>
          <a:prstGeom prst="rect">
            <a:avLst/>
          </a:prstGeom>
          <a:noFill/>
        </p:spPr>
        <p:txBody>
          <a:bodyPr wrap="square" lIns="0" rIns="0" tIns="0" bIns="0" anchor="ctr">
            <a:spAutoFit/>
          </a:bodyPr>
          <a:lstStyle/>
          <a:p>
            <a:pPr algn="l">
              <a:spcBef>
                <a:spcPts val="0"/>
              </a:spcBef>
              <a:spcAft>
                <a:spcPts val="0"/>
              </a:spcAft>
              <a:buNone/>
            </a:pPr>
            <a:r>
              <a:rPr sz="1250" b="1">
                <a:solidFill>
                  <a:srgbClr val="FFFFFF"/>
                </a:solidFill>
                <a:latin typeface="Segoe UI Semibold"/>
              </a:rPr>
              <a:t>Engine</a:t>
            </a:r>
          </a:p>
        </p:txBody>
      </p:sp>
      <p:sp>
        <p:nvSpPr>
          <p:cNvPr id="9" name="TextBox 8"/>
          <p:cNvSpPr txBox="1"/>
          <p:nvPr/>
        </p:nvSpPr>
        <p:spPr>
          <a:xfrm>
            <a:off x="4206240" y="2011680"/>
            <a:ext cx="1097280" cy="457200"/>
          </a:xfrm>
          <a:prstGeom prst="rect">
            <a:avLst/>
          </a:prstGeom>
          <a:noFill/>
        </p:spPr>
        <p:txBody>
          <a:bodyPr wrap="square" lIns="0" rIns="0" tIns="0" bIns="0" anchor="ctr">
            <a:spAutoFit/>
          </a:bodyPr>
          <a:lstStyle/>
          <a:p>
            <a:pPr algn="l">
              <a:spcBef>
                <a:spcPts val="0"/>
              </a:spcBef>
              <a:spcAft>
                <a:spcPts val="0"/>
              </a:spcAft>
              <a:buNone/>
            </a:pPr>
            <a:r>
              <a:rPr sz="1250" b="1">
                <a:solidFill>
                  <a:srgbClr val="FFFFFF"/>
                </a:solidFill>
                <a:latin typeface="Segoe UI Semibold"/>
              </a:rPr>
              <a:t>First final</a:t>
            </a:r>
          </a:p>
        </p:txBody>
      </p:sp>
      <p:sp>
        <p:nvSpPr>
          <p:cNvPr id="10" name="TextBox 9"/>
          <p:cNvSpPr txBox="1"/>
          <p:nvPr/>
        </p:nvSpPr>
        <p:spPr>
          <a:xfrm>
            <a:off x="5532120" y="2011680"/>
            <a:ext cx="1691640" cy="457200"/>
          </a:xfrm>
          <a:prstGeom prst="rect">
            <a:avLst/>
          </a:prstGeom>
          <a:noFill/>
        </p:spPr>
        <p:txBody>
          <a:bodyPr wrap="square" lIns="0" rIns="0" tIns="0" bIns="0" anchor="ctr">
            <a:spAutoFit/>
          </a:bodyPr>
          <a:lstStyle/>
          <a:p>
            <a:pPr algn="l">
              <a:spcBef>
                <a:spcPts val="0"/>
              </a:spcBef>
              <a:spcAft>
                <a:spcPts val="0"/>
              </a:spcAft>
              <a:buNone/>
            </a:pPr>
            <a:r>
              <a:rPr sz="1250" b="1">
                <a:solidFill>
                  <a:srgbClr val="FFFFFF"/>
                </a:solidFill>
                <a:latin typeface="Segoe UI Semibold"/>
              </a:rPr>
              <a:t>Peak RAM (2 legs)</a:t>
            </a:r>
          </a:p>
        </p:txBody>
      </p:sp>
      <p:sp>
        <p:nvSpPr>
          <p:cNvPr id="11" name="TextBox 10"/>
          <p:cNvSpPr txBox="1"/>
          <p:nvPr/>
        </p:nvSpPr>
        <p:spPr>
          <a:xfrm>
            <a:off x="7452360" y="2011680"/>
            <a:ext cx="1280160" cy="457200"/>
          </a:xfrm>
          <a:prstGeom prst="rect">
            <a:avLst/>
          </a:prstGeom>
          <a:noFill/>
        </p:spPr>
        <p:txBody>
          <a:bodyPr wrap="square" lIns="0" rIns="0" tIns="0" bIns="0" anchor="ctr">
            <a:spAutoFit/>
          </a:bodyPr>
          <a:lstStyle/>
          <a:p>
            <a:pPr algn="l">
              <a:spcBef>
                <a:spcPts val="0"/>
              </a:spcBef>
              <a:spcAft>
                <a:spcPts val="0"/>
              </a:spcAft>
              <a:buNone/>
            </a:pPr>
            <a:r>
              <a:rPr sz="1250" b="1">
                <a:solidFill>
                  <a:srgbClr val="FFFFFF"/>
                </a:solidFill>
                <a:latin typeface="Segoe UI Semibold"/>
              </a:rPr>
              <a:t>Hardware</a:t>
            </a:r>
          </a:p>
        </p:txBody>
      </p:sp>
      <p:sp>
        <p:nvSpPr>
          <p:cNvPr id="12" name="TextBox 11"/>
          <p:cNvSpPr txBox="1"/>
          <p:nvPr/>
        </p:nvSpPr>
        <p:spPr>
          <a:xfrm>
            <a:off x="8915400" y="2011680"/>
            <a:ext cx="2560320" cy="457200"/>
          </a:xfrm>
          <a:prstGeom prst="rect">
            <a:avLst/>
          </a:prstGeom>
          <a:noFill/>
        </p:spPr>
        <p:txBody>
          <a:bodyPr wrap="square" lIns="0" rIns="0" tIns="0" bIns="0" anchor="ctr">
            <a:spAutoFit/>
          </a:bodyPr>
          <a:lstStyle/>
          <a:p>
            <a:pPr algn="l">
              <a:spcBef>
                <a:spcPts val="0"/>
              </a:spcBef>
              <a:spcAft>
                <a:spcPts val="0"/>
              </a:spcAft>
              <a:buNone/>
            </a:pPr>
            <a:r>
              <a:rPr sz="1250" b="1">
                <a:solidFill>
                  <a:srgbClr val="FFFFFF"/>
                </a:solidFill>
                <a:latin typeface="Segoe UI Semibold"/>
              </a:rPr>
              <a:t>Numbers / ITN</a:t>
            </a:r>
          </a:p>
        </p:txBody>
      </p:sp>
      <p:sp>
        <p:nvSpPr>
          <p:cNvPr id="13" name="Rectangle 12"/>
          <p:cNvSpPr/>
          <p:nvPr/>
        </p:nvSpPr>
        <p:spPr>
          <a:xfrm>
            <a:off x="640080" y="2468880"/>
            <a:ext cx="10881360" cy="512064"/>
          </a:xfrm>
          <a:prstGeom prst="rect">
            <a:avLst/>
          </a:prstGeom>
          <a:solidFill>
            <a:srgbClr val="E4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468880"/>
            <a:ext cx="91440" cy="512064"/>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468880"/>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Claros (Live Captions)</a:t>
            </a:r>
          </a:p>
        </p:txBody>
      </p:sp>
      <p:sp>
        <p:nvSpPr>
          <p:cNvPr id="16" name="TextBox 15"/>
          <p:cNvSpPr txBox="1"/>
          <p:nvPr/>
        </p:nvSpPr>
        <p:spPr>
          <a:xfrm>
            <a:off x="4206240" y="2468880"/>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~4 s</a:t>
            </a:r>
          </a:p>
        </p:txBody>
      </p:sp>
      <p:sp>
        <p:nvSpPr>
          <p:cNvPr id="17" name="TextBox 16"/>
          <p:cNvSpPr txBox="1"/>
          <p:nvPr/>
        </p:nvSpPr>
        <p:spPr>
          <a:xfrm>
            <a:off x="5532120" y="2468880"/>
            <a:ext cx="169164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0078D4"/>
                </a:solidFill>
                <a:latin typeface="Segoe UI Semibold"/>
              </a:rPr>
              <a:t>~500 MB</a:t>
            </a:r>
          </a:p>
        </p:txBody>
      </p:sp>
      <p:sp>
        <p:nvSpPr>
          <p:cNvPr id="18" name="TextBox 17"/>
          <p:cNvSpPr txBox="1"/>
          <p:nvPr/>
        </p:nvSpPr>
        <p:spPr>
          <a:xfrm>
            <a:off x="7452360" y="2468880"/>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CPU</a:t>
            </a:r>
          </a:p>
        </p:txBody>
      </p:sp>
      <p:sp>
        <p:nvSpPr>
          <p:cNvPr id="19" name="TextBox 18"/>
          <p:cNvSpPr txBox="1"/>
          <p:nvPr/>
        </p:nvSpPr>
        <p:spPr>
          <a:xfrm>
            <a:off x="8915400" y="2468880"/>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Numbers spelled out (in-box fix)</a:t>
            </a:r>
          </a:p>
        </p:txBody>
      </p:sp>
      <p:sp>
        <p:nvSpPr>
          <p:cNvPr id="20" name="Rectangle 19"/>
          <p:cNvSpPr/>
          <p:nvPr/>
        </p:nvSpPr>
        <p:spPr>
          <a:xfrm>
            <a:off x="640080" y="2980944"/>
            <a:ext cx="10881360" cy="51206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19" y="2980944"/>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Apple SpeechAnalyzer (macOS)</a:t>
            </a:r>
          </a:p>
        </p:txBody>
      </p:sp>
      <p:sp>
        <p:nvSpPr>
          <p:cNvPr id="22" name="TextBox 21"/>
          <p:cNvSpPr txBox="1"/>
          <p:nvPr/>
        </p:nvSpPr>
        <p:spPr>
          <a:xfrm>
            <a:off x="4206240" y="2980944"/>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~4 s</a:t>
            </a:r>
          </a:p>
        </p:txBody>
      </p:sp>
      <p:sp>
        <p:nvSpPr>
          <p:cNvPr id="23" name="TextBox 22"/>
          <p:cNvSpPr txBox="1"/>
          <p:nvPr/>
        </p:nvSpPr>
        <p:spPr>
          <a:xfrm>
            <a:off x="5532120" y="2980944"/>
            <a:ext cx="169164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0078D4"/>
                </a:solidFill>
                <a:latin typeface="Segoe UI Semibold"/>
              </a:rPr>
              <a:t>~440 MB</a:t>
            </a:r>
          </a:p>
        </p:txBody>
      </p:sp>
      <p:sp>
        <p:nvSpPr>
          <p:cNvPr id="24" name="TextBox 23"/>
          <p:cNvSpPr txBox="1"/>
          <p:nvPr/>
        </p:nvSpPr>
        <p:spPr>
          <a:xfrm>
            <a:off x="7452360" y="2980944"/>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Apple ANE</a:t>
            </a:r>
          </a:p>
        </p:txBody>
      </p:sp>
      <p:sp>
        <p:nvSpPr>
          <p:cNvPr id="25" name="TextBox 24"/>
          <p:cNvSpPr txBox="1"/>
          <p:nvPr/>
        </p:nvSpPr>
        <p:spPr>
          <a:xfrm>
            <a:off x="8915400" y="2980944"/>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Full ITN: $610,000, 6.2%</a:t>
            </a:r>
          </a:p>
        </p:txBody>
      </p:sp>
      <p:sp>
        <p:nvSpPr>
          <p:cNvPr id="26" name="Rectangle 25"/>
          <p:cNvSpPr/>
          <p:nvPr/>
        </p:nvSpPr>
        <p:spPr>
          <a:xfrm>
            <a:off x="640080" y="3493008"/>
            <a:ext cx="10881360" cy="51206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19" y="3493008"/>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WinAI Speech Preview</a:t>
            </a:r>
          </a:p>
        </p:txBody>
      </p:sp>
      <p:sp>
        <p:nvSpPr>
          <p:cNvPr id="28" name="TextBox 27"/>
          <p:cNvSpPr txBox="1"/>
          <p:nvPr/>
        </p:nvSpPr>
        <p:spPr>
          <a:xfrm>
            <a:off x="4206240" y="3493008"/>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3.5 s</a:t>
            </a:r>
          </a:p>
        </p:txBody>
      </p:sp>
      <p:sp>
        <p:nvSpPr>
          <p:cNvPr id="29" name="TextBox 28"/>
          <p:cNvSpPr txBox="1"/>
          <p:nvPr/>
        </p:nvSpPr>
        <p:spPr>
          <a:xfrm>
            <a:off x="5532120" y="3493008"/>
            <a:ext cx="169164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0078D4"/>
                </a:solidFill>
                <a:latin typeface="Segoe UI Semibold"/>
              </a:rPr>
              <a:t>~6,400 MB</a:t>
            </a:r>
          </a:p>
        </p:txBody>
      </p:sp>
      <p:sp>
        <p:nvSpPr>
          <p:cNvPr id="30" name="TextBox 29"/>
          <p:cNvSpPr txBox="1"/>
          <p:nvPr/>
        </p:nvSpPr>
        <p:spPr>
          <a:xfrm>
            <a:off x="7452360" y="3493008"/>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Hexagon NPU</a:t>
            </a:r>
          </a:p>
        </p:txBody>
      </p:sp>
      <p:sp>
        <p:nvSpPr>
          <p:cNvPr id="31" name="TextBox 30"/>
          <p:cNvSpPr txBox="1"/>
          <p:nvPr/>
        </p:nvSpPr>
        <p:spPr>
          <a:xfrm>
            <a:off x="8915400" y="3493008"/>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Full ITN (Whisper Turbo)</a:t>
            </a:r>
          </a:p>
        </p:txBody>
      </p:sp>
      <p:sp>
        <p:nvSpPr>
          <p:cNvPr id="32" name="Rectangle 31"/>
          <p:cNvSpPr/>
          <p:nvPr/>
        </p:nvSpPr>
        <p:spPr>
          <a:xfrm>
            <a:off x="640080" y="4005072"/>
            <a:ext cx="1088136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19" y="4005072"/>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Nemotron 0.6B (Foundry Local)</a:t>
            </a:r>
          </a:p>
        </p:txBody>
      </p:sp>
      <p:sp>
        <p:nvSpPr>
          <p:cNvPr id="34" name="TextBox 33"/>
          <p:cNvSpPr txBox="1"/>
          <p:nvPr/>
        </p:nvSpPr>
        <p:spPr>
          <a:xfrm>
            <a:off x="4206240" y="4005072"/>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1.2 s</a:t>
            </a:r>
          </a:p>
        </p:txBody>
      </p:sp>
      <p:sp>
        <p:nvSpPr>
          <p:cNvPr id="35" name="TextBox 34"/>
          <p:cNvSpPr txBox="1"/>
          <p:nvPr/>
        </p:nvSpPr>
        <p:spPr>
          <a:xfrm>
            <a:off x="5532120" y="4005072"/>
            <a:ext cx="169164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~1,750 MB</a:t>
            </a:r>
          </a:p>
        </p:txBody>
      </p:sp>
      <p:sp>
        <p:nvSpPr>
          <p:cNvPr id="36" name="TextBox 35"/>
          <p:cNvSpPr txBox="1"/>
          <p:nvPr/>
        </p:nvSpPr>
        <p:spPr>
          <a:xfrm>
            <a:off x="7452360" y="4005072"/>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CPU</a:t>
            </a:r>
          </a:p>
        </p:txBody>
      </p:sp>
      <p:sp>
        <p:nvSpPr>
          <p:cNvPr id="37" name="TextBox 36"/>
          <p:cNvSpPr txBox="1"/>
          <p:nvPr/>
        </p:nvSpPr>
        <p:spPr>
          <a:xfrm>
            <a:off x="8915400" y="4005072"/>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No clean sentence breaks</a:t>
            </a:r>
          </a:p>
        </p:txBody>
      </p:sp>
      <p:sp>
        <p:nvSpPr>
          <p:cNvPr id="38" name="Rectangle 37"/>
          <p:cNvSpPr/>
          <p:nvPr/>
        </p:nvSpPr>
        <p:spPr>
          <a:xfrm>
            <a:off x="640080" y="4517136"/>
            <a:ext cx="1088136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19" y="4517136"/>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Parakeet TDT 0.6b</a:t>
            </a:r>
          </a:p>
        </p:txBody>
      </p:sp>
      <p:sp>
        <p:nvSpPr>
          <p:cNvPr id="40" name="TextBox 39"/>
          <p:cNvSpPr txBox="1"/>
          <p:nvPr/>
        </p:nvSpPr>
        <p:spPr>
          <a:xfrm>
            <a:off x="4206240" y="4517136"/>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1.4 s</a:t>
            </a:r>
          </a:p>
        </p:txBody>
      </p:sp>
      <p:sp>
        <p:nvSpPr>
          <p:cNvPr id="41" name="TextBox 40"/>
          <p:cNvSpPr txBox="1"/>
          <p:nvPr/>
        </p:nvSpPr>
        <p:spPr>
          <a:xfrm>
            <a:off x="5532120" y="4517136"/>
            <a:ext cx="169164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~1,550 MB / leg</a:t>
            </a:r>
          </a:p>
        </p:txBody>
      </p:sp>
      <p:sp>
        <p:nvSpPr>
          <p:cNvPr id="42" name="TextBox 41"/>
          <p:cNvSpPr txBox="1"/>
          <p:nvPr/>
        </p:nvSpPr>
        <p:spPr>
          <a:xfrm>
            <a:off x="7452360" y="4517136"/>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CPU</a:t>
            </a:r>
          </a:p>
        </p:txBody>
      </p:sp>
      <p:sp>
        <p:nvSpPr>
          <p:cNvPr id="43" name="TextBox 42"/>
          <p:cNvSpPr txBox="1"/>
          <p:nvPr/>
        </p:nvSpPr>
        <p:spPr>
          <a:xfrm>
            <a:off x="8915400" y="4517136"/>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Good ITN; re-emits committed lines</a:t>
            </a:r>
          </a:p>
        </p:txBody>
      </p:sp>
      <p:sp>
        <p:nvSpPr>
          <p:cNvPr id="44" name="Rectangle 43"/>
          <p:cNvSpPr/>
          <p:nvPr/>
        </p:nvSpPr>
        <p:spPr>
          <a:xfrm>
            <a:off x="640080" y="5029200"/>
            <a:ext cx="1088136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19" y="5029200"/>
            <a:ext cx="3246120" cy="512064"/>
          </a:xfrm>
          <a:prstGeom prst="rect">
            <a:avLst/>
          </a:prstGeom>
          <a:noFill/>
        </p:spPr>
        <p:txBody>
          <a:bodyPr wrap="square" lIns="0" rIns="0" tIns="0" bIns="0" anchor="ctr">
            <a:spAutoFit/>
          </a:bodyPr>
          <a:lstStyle/>
          <a:p>
            <a:pPr algn="l">
              <a:spcBef>
                <a:spcPts val="0"/>
              </a:spcBef>
              <a:spcAft>
                <a:spcPts val="0"/>
              </a:spcAft>
              <a:buNone/>
            </a:pPr>
            <a:r>
              <a:rPr sz="1250" b="1">
                <a:solidFill>
                  <a:srgbClr val="1F1F1F"/>
                </a:solidFill>
                <a:latin typeface="Segoe UI Semibold"/>
              </a:rPr>
              <a:t>Whisper small (CPU ONNX)</a:t>
            </a:r>
          </a:p>
        </p:txBody>
      </p:sp>
      <p:sp>
        <p:nvSpPr>
          <p:cNvPr id="46" name="TextBox 45"/>
          <p:cNvSpPr txBox="1"/>
          <p:nvPr/>
        </p:nvSpPr>
        <p:spPr>
          <a:xfrm>
            <a:off x="4206240" y="5029200"/>
            <a:ext cx="109728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2.3 s</a:t>
            </a:r>
          </a:p>
        </p:txBody>
      </p:sp>
      <p:sp>
        <p:nvSpPr>
          <p:cNvPr id="47" name="TextBox 46"/>
          <p:cNvSpPr txBox="1"/>
          <p:nvPr/>
        </p:nvSpPr>
        <p:spPr>
          <a:xfrm>
            <a:off x="5532120" y="5029200"/>
            <a:ext cx="169164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~1,200 MB</a:t>
            </a:r>
          </a:p>
        </p:txBody>
      </p:sp>
      <p:sp>
        <p:nvSpPr>
          <p:cNvPr id="48" name="TextBox 47"/>
          <p:cNvSpPr txBox="1"/>
          <p:nvPr/>
        </p:nvSpPr>
        <p:spPr>
          <a:xfrm>
            <a:off x="7452360" y="5029200"/>
            <a:ext cx="128016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CPU</a:t>
            </a:r>
          </a:p>
        </p:txBody>
      </p:sp>
      <p:sp>
        <p:nvSpPr>
          <p:cNvPr id="49" name="TextBox 48"/>
          <p:cNvSpPr txBox="1"/>
          <p:nvPr/>
        </p:nvSpPr>
        <p:spPr>
          <a:xfrm>
            <a:off x="8915400" y="5029200"/>
            <a:ext cx="2560320" cy="512064"/>
          </a:xfrm>
          <a:prstGeom prst="rect">
            <a:avLst/>
          </a:prstGeom>
          <a:noFill/>
        </p:spPr>
        <p:txBody>
          <a:bodyPr wrap="square" lIns="0" rIns="0" tIns="0" bIns="0" anchor="ctr">
            <a:spAutoFit/>
          </a:bodyPr>
          <a:lstStyle/>
          <a:p>
            <a:pPr algn="l">
              <a:spcBef>
                <a:spcPts val="0"/>
              </a:spcBef>
              <a:spcAft>
                <a:spcPts val="0"/>
              </a:spcAft>
              <a:buNone/>
            </a:pPr>
            <a:r>
              <a:rPr sz="1250" b="0">
                <a:solidFill>
                  <a:srgbClr val="606060"/>
                </a:solidFill>
                <a:latin typeface="Segoe UI"/>
              </a:rPr>
              <a:t>Low: hallucinates numbers</a:t>
            </a:r>
          </a:p>
        </p:txBody>
      </p:sp>
      <p:sp>
        <p:nvSpPr>
          <p:cNvPr id="50" name="Rectangle 49"/>
          <p:cNvSpPr/>
          <p:nvPr/>
        </p:nvSpPr>
        <p:spPr>
          <a:xfrm>
            <a:off x="640080" y="5650992"/>
            <a:ext cx="10881360" cy="960120"/>
          </a:xfrm>
          <a:prstGeom prst="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 y="5760720"/>
            <a:ext cx="10332720" cy="777240"/>
          </a:xfrm>
          <a:prstGeom prst="rect">
            <a:avLst/>
          </a:prstGeom>
          <a:noFill/>
        </p:spPr>
        <p:txBody>
          <a:bodyPr wrap="square" lIns="0" rIns="0" tIns="0" bIns="0" anchor="ctr">
            <a:spAutoFit/>
          </a:bodyPr>
          <a:lstStyle/>
          <a:p>
            <a:pPr algn="l">
              <a:spcBef>
                <a:spcPts val="0"/>
              </a:spcBef>
              <a:spcAft>
                <a:spcPts val="0"/>
              </a:spcAft>
              <a:buNone/>
            </a:pPr>
            <a:r>
              <a:rPr sz="1350" b="1">
                <a:solidFill>
                  <a:srgbClr val="103A5E"/>
                </a:solidFill>
                <a:latin typeface="Segoe UI Semibold"/>
              </a:rPr>
              <a:t>Claros runs both legs on CPU at ~500 MB — ~13× less RAM than the NPU path — at ~91× real time, with clean one-per-sentence finals. One honest gap: numbers arrive spelled out, an in-box fix. That matters for captions a person reads; not for text handed to a model, which is what this platform is for.</a:t>
            </a:r>
          </a:p>
        </p:txBody>
      </p:sp>
      <p:sp>
        <p:nvSpPr>
          <p:cNvPr id="52" name="TextBox 51"/>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53" name="TextBox 52"/>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3566160"/>
            <a:ext cx="1371600" cy="82296"/>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31720"/>
            <a:ext cx="10607040" cy="640080"/>
          </a:xfrm>
          <a:prstGeom prst="rect">
            <a:avLst/>
          </a:prstGeom>
          <a:noFill/>
        </p:spPr>
        <p:txBody>
          <a:bodyPr wrap="square" lIns="0" rIns="0" tIns="0" bIns="0">
            <a:spAutoFit/>
          </a:bodyPr>
          <a:lstStyle/>
          <a:p>
            <a:pPr algn="l">
              <a:spcBef>
                <a:spcPts val="0"/>
              </a:spcBef>
              <a:spcAft>
                <a:spcPts val="0"/>
              </a:spcAft>
              <a:buNone/>
            </a:pPr>
            <a:r>
              <a:rPr sz="2200" b="1">
                <a:solidFill>
                  <a:srgbClr val="00998A"/>
                </a:solidFill>
                <a:latin typeface="Segoe UI Semibold"/>
              </a:rPr>
              <a:t>HOW</a:t>
            </a:r>
          </a:p>
        </p:txBody>
      </p:sp>
      <p:sp>
        <p:nvSpPr>
          <p:cNvPr id="6" name="TextBox 5"/>
          <p:cNvSpPr txBox="1"/>
          <p:nvPr/>
        </p:nvSpPr>
        <p:spPr>
          <a:xfrm>
            <a:off x="777240" y="3886200"/>
            <a:ext cx="10607040" cy="2011680"/>
          </a:xfrm>
          <a:prstGeom prst="rect">
            <a:avLst/>
          </a:prstGeom>
          <a:noFill/>
        </p:spPr>
        <p:txBody>
          <a:bodyPr wrap="square" lIns="0" rIns="0" tIns="0" bIns="0">
            <a:spAutoFit/>
          </a:bodyPr>
          <a:lstStyle/>
          <a:p>
            <a:pPr algn="l">
              <a:spcBef>
                <a:spcPts val="0"/>
              </a:spcBef>
              <a:spcAft>
                <a:spcPts val="1000"/>
              </a:spcAft>
              <a:buNone/>
            </a:pPr>
            <a:r>
              <a:rPr sz="3800" b="1">
                <a:solidFill>
                  <a:srgbClr val="FFFFFF"/>
                </a:solidFill>
                <a:latin typeface="Segoe UI Semibold"/>
              </a:rPr>
              <a:t>Make this implementation real</a:t>
            </a:r>
          </a:p>
          <a:p>
            <a:pPr algn="l">
              <a:spcBef>
                <a:spcPts val="0"/>
              </a:spcBef>
              <a:spcAft>
                <a:spcPts val="0"/>
              </a:spcAft>
              <a:buNone/>
            </a:pPr>
            <a:r>
              <a:rPr sz="1800" b="0">
                <a:solidFill>
                  <a:srgbClr val="CFE0F3"/>
                </a:solidFill>
                <a:latin typeface="Segoe UI Light"/>
              </a:rPr>
              <a:t>It works today. The only thing between this hack and a real platform is a decision Microsoft already owns.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55680" cy="365760"/>
          </a:xfrm>
          <a:prstGeom prst="rect">
            <a:avLst/>
          </a:prstGeom>
          <a:noFill/>
        </p:spPr>
        <p:txBody>
          <a:bodyPr wrap="square" lIns="0" rIns="0" tIns="0" bIns="0">
            <a:spAutoFit/>
          </a:bodyPr>
          <a:lstStyle/>
          <a:p>
            <a:pPr algn="l">
              <a:spcBef>
                <a:spcPts val="0"/>
              </a:spcBef>
              <a:spcAft>
                <a:spcPts val="0"/>
              </a:spcAft>
              <a:buNone/>
            </a:pPr>
            <a:r>
              <a:rPr sz="1300" b="1">
                <a:solidFill>
                  <a:srgbClr val="0078D4"/>
                </a:solidFill>
                <a:latin typeface="Segoe UI Semibold"/>
              </a:rPr>
              <a:t>HOW · THE DESIGN</a:t>
            </a:r>
          </a:p>
        </p:txBody>
      </p:sp>
      <p:sp>
        <p:nvSpPr>
          <p:cNvPr id="5" name="TextBox 4"/>
          <p:cNvSpPr txBox="1"/>
          <p:nvPr/>
        </p:nvSpPr>
        <p:spPr>
          <a:xfrm>
            <a:off x="502920" y="777240"/>
            <a:ext cx="11155680" cy="914400"/>
          </a:xfrm>
          <a:prstGeom prst="rect">
            <a:avLst/>
          </a:prstGeom>
          <a:noFill/>
        </p:spPr>
        <p:txBody>
          <a:bodyPr wrap="square" lIns="0" rIns="0" tIns="0" bIns="0">
            <a:spAutoFit/>
          </a:bodyPr>
          <a:lstStyle/>
          <a:p>
            <a:pPr algn="l">
              <a:spcBef>
                <a:spcPts val="0"/>
              </a:spcBef>
              <a:spcAft>
                <a:spcPts val="0"/>
              </a:spcAft>
              <a:buNone/>
            </a:pPr>
            <a:r>
              <a:rPr sz="3000" b="1">
                <a:solidFill>
                  <a:srgbClr val="1F1F1F"/>
                </a:solidFill>
                <a:latin typeface="Segoe UI Semibold"/>
              </a:rPr>
              <a:t>Local by default. The same SDK scales to Azure.</a:t>
            </a:r>
          </a:p>
        </p:txBody>
      </p:sp>
      <p:sp>
        <p:nvSpPr>
          <p:cNvPr id="6" name="Rectangle 5"/>
          <p:cNvSpPr/>
          <p:nvPr/>
        </p:nvSpPr>
        <p:spPr>
          <a:xfrm>
            <a:off x="658368" y="1874519"/>
            <a:ext cx="5257800" cy="274320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74519"/>
            <a:ext cx="5257800" cy="566928"/>
          </a:xfrm>
          <a:prstGeom prst="rect">
            <a:avLst/>
          </a:prstGeom>
          <a:solidFill>
            <a:srgbClr val="009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984248"/>
            <a:ext cx="4663440" cy="457200"/>
          </a:xfrm>
          <a:prstGeom prst="rect">
            <a:avLst/>
          </a:prstGeom>
          <a:noFill/>
        </p:spPr>
        <p:txBody>
          <a:bodyPr wrap="square" lIns="0" rIns="0" tIns="0" bIns="0">
            <a:spAutoFit/>
          </a:bodyPr>
          <a:lstStyle/>
          <a:p>
            <a:pPr algn="l">
              <a:spcBef>
                <a:spcPts val="0"/>
              </a:spcBef>
              <a:spcAft>
                <a:spcPts val="0"/>
              </a:spcAft>
              <a:buNone/>
            </a:pPr>
            <a:r>
              <a:rPr sz="1600" b="1">
                <a:solidFill>
                  <a:srgbClr val="FFFFFF"/>
                </a:solidFill>
                <a:latin typeface="Segoe UI Semibold"/>
              </a:rPr>
              <a:t>DEFAULT: on-device</a:t>
            </a:r>
          </a:p>
        </p:txBody>
      </p:sp>
      <p:sp>
        <p:nvSpPr>
          <p:cNvPr id="9" name="TextBox 8"/>
          <p:cNvSpPr txBox="1"/>
          <p:nvPr/>
        </p:nvSpPr>
        <p:spPr>
          <a:xfrm>
            <a:off x="950976" y="2651760"/>
            <a:ext cx="4663440" cy="1828800"/>
          </a:xfrm>
          <a:prstGeom prst="rect">
            <a:avLst/>
          </a:prstGeom>
          <a:noFill/>
        </p:spPr>
        <p:txBody>
          <a:bodyPr wrap="square" lIns="0" rIns="0" tIns="0" bIns="0">
            <a:spAutoFit/>
          </a:bodyPr>
          <a:lstStyle/>
          <a:p>
            <a:pPr algn="l">
              <a:spcBef>
                <a:spcPts val="0"/>
              </a:spcBef>
              <a:spcAft>
                <a:spcPts val="900"/>
              </a:spcAft>
              <a:buFont typeface="Segoe UI"/>
              <a:buChar char="•"/>
            </a:pPr>
            <a:r>
              <a:rPr sz="1500" b="0">
                <a:solidFill>
                  <a:srgbClr val="1F1F1F"/>
                </a:solidFill>
                <a:latin typeface="Segoe UI"/>
              </a:rPr>
              <a:t>Offline, private, free, instant.</a:t>
            </a:r>
          </a:p>
          <a:p>
            <a:pPr algn="l">
              <a:spcBef>
                <a:spcPts val="0"/>
              </a:spcBef>
              <a:spcAft>
                <a:spcPts val="900"/>
              </a:spcAft>
              <a:buFont typeface="Segoe UI"/>
              <a:buChar char="•"/>
            </a:pPr>
            <a:r>
              <a:rPr sz="1500" b="0">
                <a:solidFill>
                  <a:srgbClr val="1F1F1F"/>
                </a:solidFill>
                <a:latin typeface="Segoe UI"/>
              </a:rPr>
              <a:t>Runs on the whole fleet, no NPU required.</a:t>
            </a:r>
          </a:p>
          <a:p>
            <a:pPr algn="l">
              <a:spcBef>
                <a:spcPts val="0"/>
              </a:spcBef>
              <a:spcAft>
                <a:spcPts val="900"/>
              </a:spcAft>
              <a:buFont typeface="Segoe UI"/>
              <a:buChar char="•"/>
            </a:pPr>
            <a:r>
              <a:rPr sz="1500" b="0">
                <a:solidFill>
                  <a:srgbClr val="1F1F1F"/>
                </a:solidFill>
                <a:latin typeface="Segoe UI"/>
              </a:rPr>
              <a:t>EmbeddedSpeechConfig on the installed voice + Live Captions model.</a:t>
            </a:r>
          </a:p>
        </p:txBody>
      </p:sp>
      <p:sp>
        <p:nvSpPr>
          <p:cNvPr id="10" name="Rectangle 9"/>
          <p:cNvSpPr/>
          <p:nvPr/>
        </p:nvSpPr>
        <p:spPr>
          <a:xfrm>
            <a:off x="6272784" y="1874519"/>
            <a:ext cx="5257800" cy="2743200"/>
          </a:xfrm>
          <a:prstGeom prst="rect">
            <a:avLst/>
          </a:prstGeom>
          <a:solidFill>
            <a:srgbClr val="FFFFFF"/>
          </a:solidFill>
          <a:ln w="12700">
            <a:solidFill>
              <a:srgbClr val="D9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1874519"/>
            <a:ext cx="5257800" cy="5669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1984248"/>
            <a:ext cx="4663440" cy="457200"/>
          </a:xfrm>
          <a:prstGeom prst="rect">
            <a:avLst/>
          </a:prstGeom>
          <a:noFill/>
        </p:spPr>
        <p:txBody>
          <a:bodyPr wrap="square" lIns="0" rIns="0" tIns="0" bIns="0">
            <a:spAutoFit/>
          </a:bodyPr>
          <a:lstStyle/>
          <a:p>
            <a:pPr algn="l">
              <a:spcBef>
                <a:spcPts val="0"/>
              </a:spcBef>
              <a:spcAft>
                <a:spcPts val="0"/>
              </a:spcAft>
              <a:buNone/>
            </a:pPr>
            <a:r>
              <a:rPr sz="1600" b="1">
                <a:solidFill>
                  <a:srgbClr val="FFFFFF"/>
                </a:solidFill>
                <a:latin typeface="Segoe UI Semibold"/>
              </a:rPr>
              <a:t>UPSELL: same code + your Azure creds</a:t>
            </a:r>
          </a:p>
        </p:txBody>
      </p:sp>
      <p:sp>
        <p:nvSpPr>
          <p:cNvPr id="13" name="TextBox 12"/>
          <p:cNvSpPr txBox="1"/>
          <p:nvPr/>
        </p:nvSpPr>
        <p:spPr>
          <a:xfrm>
            <a:off x="6565392" y="2651760"/>
            <a:ext cx="4663440" cy="1828800"/>
          </a:xfrm>
          <a:prstGeom prst="rect">
            <a:avLst/>
          </a:prstGeom>
          <a:noFill/>
        </p:spPr>
        <p:txBody>
          <a:bodyPr wrap="square" lIns="0" rIns="0" tIns="0" bIns="0">
            <a:spAutoFit/>
          </a:bodyPr>
          <a:lstStyle/>
          <a:p>
            <a:pPr algn="l">
              <a:spcBef>
                <a:spcPts val="0"/>
              </a:spcBef>
              <a:spcAft>
                <a:spcPts val="900"/>
              </a:spcAft>
              <a:buFont typeface="Segoe UI"/>
              <a:buChar char="•"/>
            </a:pPr>
            <a:r>
              <a:rPr sz="1500" b="0">
                <a:solidFill>
                  <a:srgbClr val="1F1F1F"/>
                </a:solidFill>
                <a:latin typeface="Segoe UI"/>
              </a:rPr>
              <a:t>Swap in a cloud SpeechConfig(key, region).</a:t>
            </a:r>
          </a:p>
          <a:p>
            <a:pPr algn="l">
              <a:spcBef>
                <a:spcPts val="0"/>
              </a:spcBef>
              <a:spcAft>
                <a:spcPts val="900"/>
              </a:spcAft>
              <a:buFont typeface="Segoe UI"/>
              <a:buChar char="•"/>
            </a:pPr>
            <a:r>
              <a:rPr sz="1500" b="0">
                <a:solidFill>
                  <a:srgbClr val="1F1F1F"/>
                </a:solidFill>
                <a:latin typeface="Segoe UI"/>
              </a:rPr>
              <a:t>Same SpeechSynthesizer / SpeechRecognizer calls, same voices.</a:t>
            </a:r>
          </a:p>
          <a:p>
            <a:pPr algn="l">
              <a:spcBef>
                <a:spcPts val="0"/>
              </a:spcBef>
              <a:spcAft>
                <a:spcPts val="900"/>
              </a:spcAft>
              <a:buFont typeface="Segoe UI"/>
              <a:buChar char="•"/>
            </a:pPr>
            <a:r>
              <a:rPr sz="1500" b="0">
                <a:solidFill>
                  <a:srgbClr val="1F1F1F"/>
                </a:solidFill>
                <a:latin typeface="Segoe UI"/>
              </a:rPr>
              <a:t>More voices, more languages, server-side scale.</a:t>
            </a:r>
          </a:p>
        </p:txBody>
      </p:sp>
      <p:sp>
        <p:nvSpPr>
          <p:cNvPr id="14" name="Right Arrow 13"/>
          <p:cNvSpPr/>
          <p:nvPr/>
        </p:nvSpPr>
        <p:spPr>
          <a:xfrm>
            <a:off x="5852160" y="3063240"/>
            <a:ext cx="502920" cy="365760"/>
          </a:xfrm>
          <a:prstGeom prst="rightArrow">
            <a:avLst/>
          </a:prstGeom>
          <a:solidFill>
            <a:srgbClr val="CA5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892040"/>
            <a:ext cx="10881360" cy="960120"/>
          </a:xfrm>
          <a:prstGeom prst="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29200"/>
            <a:ext cx="10332720" cy="731520"/>
          </a:xfrm>
          <a:prstGeom prst="rect">
            <a:avLst/>
          </a:prstGeom>
          <a:noFill/>
        </p:spPr>
        <p:txBody>
          <a:bodyPr wrap="square" lIns="0" rIns="0" tIns="0" bIns="0" anchor="ctr">
            <a:spAutoFit/>
          </a:bodyPr>
          <a:lstStyle/>
          <a:p>
            <a:pPr algn="l">
              <a:spcBef>
                <a:spcPts val="0"/>
              </a:spcBef>
              <a:spcAft>
                <a:spcPts val="0"/>
              </a:spcAft>
              <a:buNone/>
            </a:pPr>
            <a:r>
              <a:rPr sz="1500" b="1">
                <a:solidFill>
                  <a:srgbClr val="103A5E"/>
                </a:solidFill>
                <a:latin typeface="Segoe UI Semibold"/>
              </a:rPr>
              <a:t>This isn't hand-waving: the reference implementation is the Azure Speech SDK in embedded mode. The upgrade to Azure is a config swap, not a rewrite. Local is the free on-ramp; Azure plus Microsoft's own apps is a funnel no rival can match.</a:t>
            </a:r>
          </a:p>
        </p:txBody>
      </p:sp>
      <p:sp>
        <p:nvSpPr>
          <p:cNvPr id="17" name="TextBox 16"/>
          <p:cNvSpPr txBox="1"/>
          <p:nvPr/>
        </p:nvSpPr>
        <p:spPr>
          <a:xfrm>
            <a:off x="502920" y="6419088"/>
            <a:ext cx="8229600" cy="320040"/>
          </a:xfrm>
          <a:prstGeom prst="rect">
            <a:avLst/>
          </a:prstGeom>
          <a:noFill/>
        </p:spPr>
        <p:txBody>
          <a:bodyPr wrap="square" lIns="0" rIns="0" tIns="0" bIns="0">
            <a:spAutoFit/>
          </a:bodyPr>
          <a:lstStyle/>
          <a:p>
            <a:pPr algn="l">
              <a:spcBef>
                <a:spcPts val="0"/>
              </a:spcBef>
              <a:spcAft>
                <a:spcPts val="0"/>
              </a:spcAft>
              <a:buNone/>
            </a:pPr>
            <a:r>
              <a:rPr sz="1000" b="0">
                <a:solidFill>
                  <a:srgbClr val="606060"/>
                </a:solidFill>
                <a:latin typeface="Segoe UI"/>
              </a:rPr>
              <a:t>Claros  ·  one on-device speech platform, whole fleet</a:t>
            </a:r>
          </a:p>
        </p:txBody>
      </p:sp>
      <p:sp>
        <p:nvSpPr>
          <p:cNvPr id="18" name="TextBox 17"/>
          <p:cNvSpPr txBox="1"/>
          <p:nvPr/>
        </p:nvSpPr>
        <p:spPr>
          <a:xfrm>
            <a:off x="11155680" y="6419088"/>
            <a:ext cx="640080" cy="320040"/>
          </a:xfrm>
          <a:prstGeom prst="rect">
            <a:avLst/>
          </a:prstGeom>
          <a:noFill/>
        </p:spPr>
        <p:txBody>
          <a:bodyPr wrap="square" lIns="0" rIns="0" tIns="0" bIns="0">
            <a:spAutoFit/>
          </a:bodyPr>
          <a:lstStyle/>
          <a:p>
            <a:pPr algn="r">
              <a:spcBef>
                <a:spcPts val="0"/>
              </a:spcBef>
              <a:spcAft>
                <a:spcPts val="0"/>
              </a:spcAft>
              <a:buNone/>
            </a:pPr>
            <a:r>
              <a:rPr sz="1000" b="0">
                <a:solidFill>
                  <a:srgbClr val="60606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1097280"/>
          </a:xfrm>
          <a:prstGeom prst="rect">
            <a:avLst/>
          </a:prstGeom>
          <a:noFill/>
        </p:spPr>
        <p:txBody>
          <a:bodyPr wrap="square" lIns="0" rIns="0" tIns="0" bIns="0">
            <a:spAutoFit/>
          </a:bodyPr>
          <a:lstStyle/>
          <a:p>
            <a:pPr algn="l">
              <a:spcBef>
                <a:spcPts val="0"/>
              </a:spcBef>
              <a:spcAft>
                <a:spcPts val="600"/>
              </a:spcAft>
              <a:buNone/>
            </a:pPr>
            <a:r>
              <a:rPr sz="1400" b="1">
                <a:solidFill>
                  <a:srgbClr val="8FC4F0"/>
                </a:solidFill>
                <a:latin typeface="Segoe UI Semibold"/>
              </a:rPr>
              <a:t>THE ASK TO MICROSOFT</a:t>
            </a:r>
          </a:p>
          <a:p>
            <a:pPr algn="l">
              <a:spcBef>
                <a:spcPts val="0"/>
              </a:spcBef>
              <a:spcAft>
                <a:spcPts val="0"/>
              </a:spcAft>
              <a:buNone/>
            </a:pPr>
            <a:r>
              <a:rPr sz="3200" b="1">
                <a:solidFill>
                  <a:srgbClr val="FFFFFF"/>
                </a:solidFill>
                <a:latin typeface="Segoe UI Semibold"/>
              </a:rPr>
              <a:t>Make this implementation real</a:t>
            </a:r>
          </a:p>
        </p:txBody>
      </p:sp>
      <p:sp>
        <p:nvSpPr>
          <p:cNvPr id="5" name="TextBox 4"/>
          <p:cNvSpPr txBox="1"/>
          <p:nvPr/>
        </p:nvSpPr>
        <p:spPr>
          <a:xfrm>
            <a:off x="640080" y="1783080"/>
            <a:ext cx="10881360" cy="914400"/>
          </a:xfrm>
          <a:prstGeom prst="rect">
            <a:avLst/>
          </a:prstGeom>
          <a:noFill/>
        </p:spPr>
        <p:txBody>
          <a:bodyPr wrap="square" lIns="0" rIns="0" tIns="0" bIns="0">
            <a:spAutoFit/>
          </a:bodyPr>
          <a:lstStyle/>
          <a:p>
            <a:pPr algn="l">
              <a:spcBef>
                <a:spcPts val="0"/>
              </a:spcBef>
              <a:spcAft>
                <a:spcPts val="0"/>
              </a:spcAft>
              <a:buNone/>
            </a:pPr>
            <a:r>
              <a:rPr sz="1600" b="0">
                <a:solidFill>
                  <a:srgbClr val="CFE0F3"/>
                </a:solidFill>
                <a:latin typeface="Segoe UI"/>
              </a:rPr>
              <a:t>This repo is a complete, working reference implementation. It runs today only by hacking around the on-device licensing, and that hack was trivial to bypass. There is no technical barrier left, only a decision:</a:t>
            </a:r>
          </a:p>
        </p:txBody>
      </p:sp>
      <p:sp>
        <p:nvSpPr>
          <p:cNvPr id="6" name="Rectangle 5"/>
          <p:cNvSpPr/>
          <p:nvPr/>
        </p:nvSpPr>
        <p:spPr>
          <a:xfrm>
            <a:off x="640080" y="2788920"/>
            <a:ext cx="10881360" cy="960120"/>
          </a:xfrm>
          <a:prstGeom prst="rect">
            <a:avLst/>
          </a:prstGeom>
          <a:solidFill>
            <a:srgbClr val="164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26080"/>
            <a:ext cx="10332720" cy="685800"/>
          </a:xfrm>
          <a:prstGeom prst="rect">
            <a:avLst/>
          </a:prstGeom>
          <a:noFill/>
        </p:spPr>
        <p:txBody>
          <a:bodyPr wrap="square" lIns="0" rIns="0" tIns="0" bIns="0" anchor="ctr">
            <a:spAutoFit/>
          </a:bodyPr>
          <a:lstStyle/>
          <a:p>
            <a:pPr algn="l">
              <a:spcBef>
                <a:spcPts val="0"/>
              </a:spcBef>
              <a:spcAft>
                <a:spcPts val="0"/>
              </a:spcAft>
              <a:buNone/>
            </a:pPr>
            <a:r>
              <a:rPr sz="2200" b="1">
                <a:solidFill>
                  <a:srgbClr val="FFFFFF"/>
                </a:solidFill>
                <a:latin typeface="Segoe UI Semibold"/>
              </a:rPr>
              <a:t>The only blocker is a licensing key, and Microsoft controls it.</a:t>
            </a:r>
          </a:p>
        </p:txBody>
      </p:sp>
      <p:sp>
        <p:nvSpPr>
          <p:cNvPr id="8" name="TextBox 7"/>
          <p:cNvSpPr txBox="1"/>
          <p:nvPr/>
        </p:nvSpPr>
        <p:spPr>
          <a:xfrm>
            <a:off x="914400" y="4023360"/>
            <a:ext cx="10424160" cy="1463040"/>
          </a:xfrm>
          <a:prstGeom prst="rect">
            <a:avLst/>
          </a:prstGeom>
          <a:noFill/>
        </p:spPr>
        <p:txBody>
          <a:bodyPr wrap="square" lIns="0" rIns="0" tIns="0" bIns="0">
            <a:spAutoFit/>
          </a:bodyPr>
          <a:lstStyle/>
          <a:p>
            <a:pPr algn="l">
              <a:spcBef>
                <a:spcPts val="0"/>
              </a:spcBef>
              <a:spcAft>
                <a:spcPts val="900"/>
              </a:spcAft>
              <a:buFont typeface="Segoe UI"/>
              <a:buChar char="•"/>
            </a:pPr>
            <a:r>
              <a:rPr sz="1600" b="0">
                <a:solidFill>
                  <a:srgbClr val="FFFFFF"/>
                </a:solidFill>
                <a:latin typeface="Segoe UI"/>
              </a:rPr>
              <a:t>Bless the license so any app can reach the on-device runtime, no hack.</a:t>
            </a:r>
          </a:p>
          <a:p>
            <a:pPr algn="l">
              <a:spcBef>
                <a:spcPts val="0"/>
              </a:spcBef>
              <a:spcAft>
                <a:spcPts val="900"/>
              </a:spcAft>
              <a:buFont typeface="Segoe UI"/>
              <a:buChar char="•"/>
            </a:pPr>
            <a:r>
              <a:rPr sz="1600" b="0">
                <a:solidFill>
                  <a:srgbClr val="FFFFFF"/>
                </a:solidFill>
                <a:latin typeface="Segoe UI"/>
              </a:rPr>
              <a:t>Unite the scattered efforts (WinAI, Foundry, HD voices, Live Captions) behind one platform.</a:t>
            </a:r>
          </a:p>
          <a:p>
            <a:pPr algn="l">
              <a:spcBef>
                <a:spcPts val="0"/>
              </a:spcBef>
              <a:spcAft>
                <a:spcPts val="900"/>
              </a:spcAft>
              <a:buFont typeface="Segoe UI"/>
              <a:buChar char="•"/>
            </a:pPr>
            <a:r>
              <a:rPr sz="1600" b="0">
                <a:solidFill>
                  <a:srgbClr val="FFFFFF"/>
                </a:solidFill>
                <a:latin typeface="Segoe UI"/>
              </a:rPr>
              <a:t>Ship it as Windows.Speech: cohesive, fleet-wide, on-device, with a paved road to Azure.</a:t>
            </a:r>
          </a:p>
        </p:txBody>
      </p:sp>
      <p:sp>
        <p:nvSpPr>
          <p:cNvPr id="9" name="TextBox 8"/>
          <p:cNvSpPr txBox="1"/>
          <p:nvPr/>
        </p:nvSpPr>
        <p:spPr>
          <a:xfrm>
            <a:off x="640080" y="5806440"/>
            <a:ext cx="10881360" cy="640080"/>
          </a:xfrm>
          <a:prstGeom prst="rect">
            <a:avLst/>
          </a:prstGeom>
          <a:noFill/>
        </p:spPr>
        <p:txBody>
          <a:bodyPr wrap="square" lIns="0" rIns="0" tIns="0" bIns="0">
            <a:spAutoFit/>
          </a:bodyPr>
          <a:lstStyle/>
          <a:p>
            <a:pPr algn="l">
              <a:spcBef>
                <a:spcPts val="0"/>
              </a:spcBef>
              <a:spcAft>
                <a:spcPts val="0"/>
              </a:spcAft>
              <a:buNone/>
            </a:pPr>
            <a:r>
              <a:rPr sz="1600" b="1">
                <a:solidFill>
                  <a:srgbClr val="00998A"/>
                </a:solidFill>
                <a:latin typeface="Segoe UI Semibold"/>
              </a:rPr>
              <a:t>The tech is done, and Claros proves it. Get the company together, unite behind one platform, and compete with macOS: ship it as Windows.Speech.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