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160520"/>
            <a:ext cx="12191695" cy="457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881360" cy="2834640"/>
          </a:xfrm>
          <a:prstGeom prst="rect">
            <a:avLst/>
          </a:prstGeom>
          <a:noFill/>
        </p:spPr>
        <p:txBody>
          <a:bodyPr wrap="square" lIns="0" rIns="0" tIns="0" bIns="0">
            <a:spAutoFit/>
          </a:bodyPr>
          <a:lstStyle/>
          <a:p>
            <a:pPr algn="l">
              <a:spcBef>
                <a:spcPts val="0"/>
              </a:spcBef>
              <a:spcAft>
                <a:spcPts val="400"/>
              </a:spcAft>
              <a:buNone/>
            </a:pPr>
            <a:r>
              <a:rPr sz="4600" b="1">
                <a:solidFill>
                  <a:srgbClr val="FFFFFF"/>
                </a:solidFill>
                <a:latin typeface="Segoe UI Semibold"/>
              </a:rPr>
              <a:t>Claros</a:t>
            </a:r>
          </a:p>
          <a:p>
            <a:pPr algn="l">
              <a:spcBef>
                <a:spcPts val="0"/>
              </a:spcBef>
              <a:spcAft>
                <a:spcPts val="1400"/>
              </a:spcAft>
              <a:buNone/>
            </a:pPr>
            <a:r>
              <a:rPr sz="3800" b="1">
                <a:solidFill>
                  <a:srgbClr val="00998A"/>
                </a:solidFill>
                <a:latin typeface="Segoe UI Semibold"/>
              </a:rPr>
              <a:t>the speech platform Windows already earned</a:t>
            </a:r>
          </a:p>
          <a:p>
            <a:pPr algn="l">
              <a:spcBef>
                <a:spcPts val="0"/>
              </a:spcBef>
              <a:spcAft>
                <a:spcPts val="0"/>
              </a:spcAft>
              <a:buNone/>
            </a:pPr>
            <a:r>
              <a:rPr sz="2000" b="0">
                <a:solidFill>
                  <a:srgbClr val="CFE0F3"/>
                </a:solidFill>
                <a:latin typeface="Segoe UI Light"/>
              </a:rPr>
              <a:t>Apple quietly shipped a complete on-device speech platform to every Mac. Windows ships speech tech that is as good or better, and comparable to the cloud, then locks it away behind a missing, misaligned API that only runs on a sliver of the fleet. This is that platform: cohesive, whole-fleet, and proven today.</a:t>
            </a:r>
          </a:p>
        </p:txBody>
      </p:sp>
      <p:sp>
        <p:nvSpPr>
          <p:cNvPr id="6" name="TextBox 5"/>
          <p:cNvSpPr txBox="1"/>
          <p:nvPr/>
        </p:nvSpPr>
        <p:spPr>
          <a:xfrm>
            <a:off x="731520" y="4389120"/>
            <a:ext cx="10881360" cy="1280160"/>
          </a:xfrm>
          <a:prstGeom prst="rect">
            <a:avLst/>
          </a:prstGeom>
          <a:noFill/>
        </p:spPr>
        <p:txBody>
          <a:bodyPr wrap="square" lIns="0" rIns="0" tIns="0" bIns="0">
            <a:spAutoFit/>
          </a:bodyPr>
          <a:lstStyle/>
          <a:p>
            <a:pPr algn="l">
              <a:spcBef>
                <a:spcPts val="0"/>
              </a:spcBef>
              <a:spcAft>
                <a:spcPts val="200"/>
              </a:spcAft>
              <a:buNone/>
            </a:pPr>
            <a:r>
              <a:rPr sz="1600" b="0">
                <a:solidFill>
                  <a:srgbClr val="9FC4E7"/>
                </a:solidFill>
                <a:latin typeface="Segoe UI"/>
              </a:rPr>
              <a:t>One cohesive API for the whole Windows 11 fleet: enumerate voices, synthesize, recognize, converse, all on-device.</a:t>
            </a:r>
          </a:p>
          <a:p>
            <a:pPr algn="l">
              <a:spcBef>
                <a:spcPts val="0"/>
              </a:spcBef>
              <a:spcAft>
                <a:spcPts val="200"/>
              </a:spcAft>
              <a:buNone/>
            </a:pPr>
            <a:r>
              <a:rPr sz="1600" b="1">
                <a:solidFill>
                  <a:srgbClr val="9FC4E7"/>
                </a:solidFill>
                <a:latin typeface="Segoe UI Semibold"/>
              </a:rPr>
              <a:t>Local-first and free by default; the same code scales to Azure.</a:t>
            </a:r>
          </a:p>
          <a:p>
            <a:pPr algn="l">
              <a:spcBef>
                <a:spcPts val="0"/>
              </a:spcBef>
              <a:spcAft>
                <a:spcPts val="0"/>
              </a:spcAft>
              <a:buNone/>
            </a:pPr>
            <a:r>
              <a:rPr sz="1600" b="1">
                <a:solidFill>
                  <a:srgbClr val="00998A"/>
                </a:solidFill>
                <a:latin typeface="Segoe UI Semibold"/>
              </a:rPr>
              <a:t>Claros is the working name of the implementation. It should ship as Windows.Speech.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 COHESIVE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ships Whisper twice: two APIs, one engine</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Where Windows does push on-device speech, it ships the very same Whisper model behind two different, unrelated APIs, and neither is a platform:</a:t>
            </a:r>
          </a:p>
        </p:txBody>
      </p:sp>
      <p:sp>
        <p:nvSpPr>
          <p:cNvPr id="7" name="Rectangle 6"/>
          <p:cNvSpPr/>
          <p:nvPr/>
        </p:nvSpPr>
        <p:spPr>
          <a:xfrm>
            <a:off x="658368"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WINDOWS AI APIs</a:t>
            </a:r>
          </a:p>
        </p:txBody>
      </p:sp>
      <p:sp>
        <p:nvSpPr>
          <p:cNvPr id="10" name="TextBox 9"/>
          <p:cNvSpPr txBox="1"/>
          <p:nvPr/>
        </p:nvSpPr>
        <p:spPr>
          <a:xfrm>
            <a:off x="950976"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On-device speech-to-text via the Windows AI / Windows App SDK surface.</a:t>
            </a:r>
          </a:p>
          <a:p>
            <a:pPr algn="l">
              <a:spcBef>
                <a:spcPts val="0"/>
              </a:spcBef>
              <a:spcAft>
                <a:spcPts val="1000"/>
              </a:spcAft>
              <a:buFont typeface="Segoe UI"/>
              <a:buChar char="•"/>
            </a:pPr>
            <a:r>
              <a:rPr sz="1450" b="0">
                <a:solidFill>
                  <a:srgbClr val="1F1F1F"/>
                </a:solidFill>
                <a:latin typeface="Segoe UI"/>
              </a:rPr>
              <a:t>Its engine under the hood: Whisper (Large v3 Turbo).</a:t>
            </a:r>
          </a:p>
          <a:p>
            <a:pPr algn="l">
              <a:spcBef>
                <a:spcPts val="0"/>
              </a:spcBef>
              <a:spcAft>
                <a:spcPts val="1000"/>
              </a:spcAft>
              <a:buFont typeface="Segoe UI"/>
              <a:buChar char="•"/>
            </a:pPr>
            <a:r>
              <a:rPr sz="1450" b="0">
                <a:solidFill>
                  <a:srgbClr val="1F1F1F"/>
                </a:solidFill>
                <a:latin typeface="Segoe UI"/>
              </a:rPr>
              <a:t>Its own object model, gated to Copilot+ PCs with an NPU.</a:t>
            </a:r>
          </a:p>
        </p:txBody>
      </p:sp>
      <p:sp>
        <p:nvSpPr>
          <p:cNvPr id="11" name="Rectangle 10"/>
          <p:cNvSpPr/>
          <p:nvPr/>
        </p:nvSpPr>
        <p:spPr>
          <a:xfrm>
            <a:off x="6272784"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514600"/>
            <a:ext cx="5257800" cy="566928"/>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FOUNDRY LOCAL</a:t>
            </a:r>
          </a:p>
        </p:txBody>
      </p:sp>
      <p:sp>
        <p:nvSpPr>
          <p:cNvPr id="14" name="TextBox 13"/>
          <p:cNvSpPr txBox="1"/>
          <p:nvPr/>
        </p:nvSpPr>
        <p:spPr>
          <a:xfrm>
            <a:off x="6565392"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A separate local-model runtime and API, with its own SDK and CLI.</a:t>
            </a:r>
          </a:p>
          <a:p>
            <a:pPr algn="l">
              <a:spcBef>
                <a:spcPts val="0"/>
              </a:spcBef>
              <a:spcAft>
                <a:spcPts val="1000"/>
              </a:spcAft>
              <a:buFont typeface="Segoe UI"/>
              <a:buChar char="•"/>
            </a:pPr>
            <a:r>
              <a:rPr sz="1450" b="0">
                <a:solidFill>
                  <a:srgbClr val="1F1F1F"/>
                </a:solidFill>
                <a:latin typeface="Segoe UI"/>
              </a:rPr>
              <a:t>Ships the same Whisper family again, a different way in.</a:t>
            </a:r>
          </a:p>
          <a:p>
            <a:pPr algn="l">
              <a:spcBef>
                <a:spcPts val="0"/>
              </a:spcBef>
              <a:spcAft>
                <a:spcPts val="1000"/>
              </a:spcAft>
              <a:buFont typeface="Segoe UI"/>
              <a:buChar char="•"/>
            </a:pPr>
            <a:r>
              <a:rPr sz="1450" b="0">
                <a:solidFill>
                  <a:srgbClr val="1F1F1F"/>
                </a:solidFill>
                <a:latin typeface="Segoe UI"/>
              </a:rPr>
              <a:t>Same engine, different shape: two doors, no shared platform.</a:t>
            </a:r>
          </a:p>
        </p:txBody>
      </p:sp>
      <p:sp>
        <p:nvSpPr>
          <p:cNvPr id="15" name="TextBox 14"/>
          <p:cNvSpPr txBox="1"/>
          <p:nvPr/>
        </p:nvSpPr>
        <p:spPr>
          <a:xfrm>
            <a:off x="640080" y="525780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Same model, two API shapes, and both inherit Whisper's real problem: it doesn't run well on the machines people actually have.</a:t>
            </a:r>
          </a:p>
        </p:txBody>
      </p:sp>
      <p:sp>
        <p:nvSpPr>
          <p:cNvPr id="16" name="TextBox 15"/>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7" name="TextBox 16"/>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NOT OPTIMIZED FOR THE FLEET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Even ignore the API mess: the tech is too heavy</a:t>
            </a:r>
          </a:p>
        </p:txBody>
      </p:sp>
      <p:sp>
        <p:nvSpPr>
          <p:cNvPr id="6" name="Rectangle 5"/>
          <p:cNvSpPr/>
          <p:nvPr/>
        </p:nvSpPr>
        <p:spPr>
          <a:xfrm>
            <a:off x="640080" y="1828800"/>
            <a:ext cx="5212080" cy="306324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754880" cy="2651760"/>
          </a:xfrm>
          <a:prstGeom prst="rect">
            <a:avLst/>
          </a:prstGeom>
          <a:noFill/>
        </p:spPr>
        <p:txBody>
          <a:bodyPr wrap="square" lIns="0" rIns="0" tIns="0" bIns="0">
            <a:spAutoFit/>
          </a:bodyPr>
          <a:lstStyle/>
          <a:p>
            <a:pPr algn="l">
              <a:spcBef>
                <a:spcPts val="0"/>
              </a:spcBef>
              <a:spcAft>
                <a:spcPts val="800"/>
              </a:spcAft>
              <a:buNone/>
            </a:pPr>
            <a:r>
              <a:rPr sz="2000" b="1">
                <a:solidFill>
                  <a:srgbClr val="CA5F00"/>
                </a:solidFill>
                <a:latin typeface="Segoe UI Semibold"/>
              </a:rPr>
              <a:t>Whisper isn't built for Windows</a:t>
            </a:r>
          </a:p>
          <a:p>
            <a:pPr algn="l">
              <a:spcBef>
                <a:spcPts val="0"/>
              </a:spcBef>
              <a:spcAft>
                <a:spcPts val="0"/>
              </a:spcAft>
              <a:buNone/>
            </a:pPr>
            <a:r>
              <a:rPr sz="1600" b="0">
                <a:solidFill>
                  <a:srgbClr val="1F1F1F"/>
                </a:solidFill>
                <a:latin typeface="Segoe UI"/>
              </a:rPr>
              <a:t>The model that's being pushed simply isn't optimized for the platform. It's multiple gigabytes on disk and in RAM, and it runs slowly even on an NPU, so you need a very high-end PC, which we know most people do not run.</a:t>
            </a:r>
          </a:p>
        </p:txBody>
      </p:sp>
      <p:sp>
        <p:nvSpPr>
          <p:cNvPr id="8" name="TextBox 7"/>
          <p:cNvSpPr txBox="1"/>
          <p:nvPr/>
        </p:nvSpPr>
        <p:spPr>
          <a:xfrm>
            <a:off x="6126480" y="1828800"/>
            <a:ext cx="5486400" cy="3291840"/>
          </a:xfrm>
          <a:prstGeom prst="rect">
            <a:avLst/>
          </a:prstGeom>
          <a:noFill/>
        </p:spPr>
        <p:txBody>
          <a:bodyPr wrap="square" lIns="0" rIns="0" tIns="0" bIns="0">
            <a:spAutoFit/>
          </a:bodyPr>
          <a:lstStyle/>
          <a:p>
            <a:pPr algn="l">
              <a:spcBef>
                <a:spcPts val="0"/>
              </a:spcBef>
              <a:spcAft>
                <a:spcPts val="1300"/>
              </a:spcAft>
              <a:buFont typeface="Segoe UI"/>
              <a:buChar char="•"/>
            </a:pPr>
            <a:r>
              <a:rPr sz="1650" b="0">
                <a:solidFill>
                  <a:srgbClr val="1F1F1F"/>
                </a:solidFill>
                <a:latin typeface="Segoe UI"/>
              </a:rPr>
              <a:t>Multiple GB on disk, just to install the speech model.</a:t>
            </a:r>
          </a:p>
          <a:p>
            <a:pPr algn="l">
              <a:spcBef>
                <a:spcPts val="0"/>
              </a:spcBef>
              <a:spcAft>
                <a:spcPts val="1300"/>
              </a:spcAft>
              <a:buFont typeface="Segoe UI"/>
              <a:buChar char="•"/>
            </a:pPr>
            <a:r>
              <a:rPr sz="1650" b="0">
                <a:solidFill>
                  <a:srgbClr val="1F1F1F"/>
                </a:solidFill>
                <a:latin typeface="Segoe UI"/>
              </a:rPr>
              <a:t>Multiple GB of RAM at runtime, on a fleet where 16 GB is common.</a:t>
            </a:r>
          </a:p>
          <a:p>
            <a:pPr algn="l">
              <a:spcBef>
                <a:spcPts val="0"/>
              </a:spcBef>
              <a:spcAft>
                <a:spcPts val="1300"/>
              </a:spcAft>
              <a:buFont typeface="Segoe UI"/>
              <a:buChar char="•"/>
            </a:pPr>
            <a:r>
              <a:rPr sz="1650" b="0">
                <a:solidFill>
                  <a:srgbClr val="1F1F1F"/>
                </a:solidFill>
                <a:latin typeface="Segoe UI"/>
              </a:rPr>
              <a:t>Slow even on an NPU; real-time is a struggle without top-tier silicon.</a:t>
            </a:r>
          </a:p>
          <a:p>
            <a:pPr algn="l">
              <a:spcBef>
                <a:spcPts val="0"/>
              </a:spcBef>
              <a:spcAft>
                <a:spcPts val="1300"/>
              </a:spcAft>
              <a:buFont typeface="Segoe UI"/>
              <a:buChar char="•"/>
            </a:pPr>
            <a:r>
              <a:rPr sz="1650" b="0">
                <a:solidFill>
                  <a:srgbClr val="1F1F1F"/>
                </a:solidFill>
                <a:latin typeface="Segoe UI"/>
              </a:rPr>
              <a:t>So it only lands on a sliver of high-end, Copilot+ machines.</a:t>
            </a:r>
          </a:p>
          <a:p>
            <a:pPr algn="l">
              <a:spcBef>
                <a:spcPts val="0"/>
              </a:spcBef>
              <a:spcAft>
                <a:spcPts val="1300"/>
              </a:spcAft>
              <a:buFont typeface="Segoe UI"/>
              <a:buChar char="•"/>
            </a:pPr>
            <a:r>
              <a:rPr sz="1650" b="0">
                <a:solidFill>
                  <a:srgbClr val="1F1F1F"/>
                </a:solidFill>
                <a:latin typeface="Segoe UI"/>
              </a:rPr>
              <a:t>Result: extremely limited adoption. Developers can't target it.</a:t>
            </a:r>
          </a:p>
        </p:txBody>
      </p:sp>
      <p:sp>
        <p:nvSpPr>
          <p:cNvPr id="9" name="TextBox 8"/>
          <p:cNvSpPr txBox="1"/>
          <p:nvPr/>
        </p:nvSpPr>
        <p:spPr>
          <a:xfrm>
            <a:off x="640080" y="521208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A platform only counts if it runs on the fleet you actually have. Today's path doesn't, on hardware, on disk, or on memory.</a:t>
            </a:r>
          </a:p>
        </p:txBody>
      </p:sp>
      <p:sp>
        <p:nvSpPr>
          <p:cNvPr id="10" name="TextBox 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1" name="TextBox 1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WHY · APPLE ALREADY DID IT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Apple quietly shipped the complete platform, to every Mac</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While Windows debated, Apple shipped a cohesive on-device speech platform and put it on every Mac in use, not just the newest:</a:t>
            </a:r>
          </a:p>
        </p:txBody>
      </p:sp>
      <p:sp>
        <p:nvSpPr>
          <p:cNvPr id="7" name="Rectangle 6"/>
          <p:cNvSpPr/>
          <p:nvPr/>
        </p:nvSpPr>
        <p:spPr>
          <a:xfrm>
            <a:off x="658368"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SpeechAnalyzer (STT)</a:t>
            </a:r>
          </a:p>
          <a:p>
            <a:pPr algn="l">
              <a:spcBef>
                <a:spcPts val="0"/>
              </a:spcBef>
              <a:spcAft>
                <a:spcPts val="0"/>
              </a:spcAft>
              <a:buNone/>
            </a:pPr>
            <a:r>
              <a:rPr sz="1400" b="0">
                <a:solidFill>
                  <a:srgbClr val="606060"/>
                </a:solidFill>
                <a:latin typeface="Segoe UI"/>
              </a:rPr>
              <a:t>On-device recognition with ITN, punctuation, per-speaker attribution.</a:t>
            </a:r>
          </a:p>
        </p:txBody>
      </p:sp>
      <p:sp>
        <p:nvSpPr>
          <p:cNvPr id="10" name="Rectangle 9"/>
          <p:cNvSpPr/>
          <p:nvPr/>
        </p:nvSpPr>
        <p:spPr>
          <a:xfrm>
            <a:off x="6272784"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Neural TTS</a:t>
            </a:r>
          </a:p>
          <a:p>
            <a:pPr algn="l">
              <a:spcBef>
                <a:spcPts val="0"/>
              </a:spcBef>
              <a:spcAft>
                <a:spcPts val="0"/>
              </a:spcAft>
              <a:buNone/>
            </a:pPr>
            <a:r>
              <a:rPr sz="1400" b="0">
                <a:solidFill>
                  <a:srgbClr val="606060"/>
                </a:solidFill>
                <a:latin typeface="Segoe UI"/>
              </a:rPr>
              <a:t>High-quality on-device voices, one shared system model.</a:t>
            </a:r>
          </a:p>
        </p:txBody>
      </p:sp>
      <p:sp>
        <p:nvSpPr>
          <p:cNvPr id="13" name="Rectangle 12"/>
          <p:cNvSpPr/>
          <p:nvPr/>
        </p:nvSpPr>
        <p:spPr>
          <a:xfrm>
            <a:off x="658368"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Runs on every Mac</a:t>
            </a:r>
          </a:p>
          <a:p>
            <a:pPr algn="l">
              <a:spcBef>
                <a:spcPts val="0"/>
              </a:spcBef>
              <a:spcAft>
                <a:spcPts val="0"/>
              </a:spcAft>
              <a:buNone/>
            </a:pPr>
            <a:r>
              <a:rPr sz="1400" b="0">
                <a:solidFill>
                  <a:srgbClr val="606060"/>
                </a:solidFill>
                <a:latin typeface="Segoe UI"/>
              </a:rPr>
              <a:t>Not gated to the latest silicon; the whole fleet is the target.</a:t>
            </a:r>
          </a:p>
        </p:txBody>
      </p:sp>
      <p:sp>
        <p:nvSpPr>
          <p:cNvPr id="16" name="Rectangle 15"/>
          <p:cNvSpPr/>
          <p:nvPr/>
        </p:nvSpPr>
        <p:spPr>
          <a:xfrm>
            <a:off x="6272784"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~900 MB, real-time</a:t>
            </a:r>
          </a:p>
          <a:p>
            <a:pPr algn="l">
              <a:spcBef>
                <a:spcPts val="0"/>
              </a:spcBef>
              <a:spcAft>
                <a:spcPts val="0"/>
              </a:spcAft>
              <a:buNone/>
            </a:pPr>
            <a:r>
              <a:rPr sz="1400" b="0">
                <a:solidFill>
                  <a:srgbClr val="606060"/>
                </a:solidFill>
                <a:latin typeface="Segoe UI"/>
              </a:rPr>
              <a:t>Efficient enough to be practical: ships in real apps today.</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The model is proven and wanted: cohesive, on-device, fleet-wide speech. The only question is whether Windows will answer it.</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THE FACE-PALM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already ships tech that matches or beats it</a:t>
            </a:r>
          </a:p>
        </p:txBody>
      </p:sp>
      <p:sp>
        <p:nvSpPr>
          <p:cNvPr id="6" name="TextBox 5"/>
          <p:cNvSpPr txBox="1"/>
          <p:nvPr/>
        </p:nvSpPr>
        <p:spPr>
          <a:xfrm>
            <a:off x="640080" y="1783080"/>
            <a:ext cx="10881360" cy="8229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Here is the frustrating part. Windows doesn't need to invent anything. The tech already ships in the box, and it's as good or better than the Mac, with results comparable to the cloud:</a:t>
            </a:r>
          </a:p>
        </p:txBody>
      </p:sp>
      <p:sp>
        <p:nvSpPr>
          <p:cNvPr id="7" name="Rectangle 6"/>
          <p:cNvSpPr/>
          <p:nvPr/>
        </p:nvSpPr>
        <p:spPr>
          <a:xfrm>
            <a:off x="640080" y="26974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6974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Natural HD voices</a:t>
            </a:r>
          </a:p>
          <a:p>
            <a:pPr algn="l">
              <a:spcBef>
                <a:spcPts val="0"/>
              </a:spcBef>
              <a:spcAft>
                <a:spcPts val="0"/>
              </a:spcAft>
              <a:buNone/>
            </a:pPr>
            <a:r>
              <a:rPr sz="1500" b="0">
                <a:solidFill>
                  <a:srgbClr val="606060"/>
                </a:solidFill>
                <a:latin typeface="Segoe UI"/>
              </a:rPr>
              <a:t>The same neural voices as Microsoft's cloud, running offline on the device.</a:t>
            </a:r>
          </a:p>
        </p:txBody>
      </p:sp>
      <p:sp>
        <p:nvSpPr>
          <p:cNvPr id="9" name="Rectangle 8"/>
          <p:cNvSpPr/>
          <p:nvPr/>
        </p:nvSpPr>
        <p:spPr>
          <a:xfrm>
            <a:off x="640080" y="36118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Live Captions recognizer</a:t>
            </a:r>
          </a:p>
          <a:p>
            <a:pPr algn="l">
              <a:spcBef>
                <a:spcPts val="0"/>
              </a:spcBef>
              <a:spcAft>
                <a:spcPts val="0"/>
              </a:spcAft>
              <a:buNone/>
            </a:pPr>
            <a:r>
              <a:rPr sz="1500" b="0">
                <a:solidFill>
                  <a:srgbClr val="606060"/>
                </a:solidFill>
                <a:latin typeface="Segoe UI"/>
              </a:rPr>
              <a:t>On-device STT that runs great on the CPU, at ~500 MB, no NPU required.</a:t>
            </a:r>
          </a:p>
        </p:txBody>
      </p:sp>
      <p:sp>
        <p:nvSpPr>
          <p:cNvPr id="11" name="Rectangle 10"/>
          <p:cNvSpPr/>
          <p:nvPr/>
        </p:nvSpPr>
        <p:spPr>
          <a:xfrm>
            <a:off x="640080" y="45262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262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Efficient by design</a:t>
            </a:r>
          </a:p>
          <a:p>
            <a:pPr algn="l">
              <a:spcBef>
                <a:spcPts val="0"/>
              </a:spcBef>
              <a:spcAft>
                <a:spcPts val="0"/>
              </a:spcAft>
              <a:buNone/>
            </a:pPr>
            <a:r>
              <a:rPr sz="1500" b="0">
                <a:solidFill>
                  <a:srgbClr val="606060"/>
                </a:solidFill>
                <a:latin typeface="Segoe UI"/>
              </a:rPr>
              <a:t>Light on disk and RAM, fast on an ordinary CPU, and better with an NPU.</a:t>
            </a:r>
          </a:p>
        </p:txBody>
      </p:sp>
      <p:sp>
        <p:nvSpPr>
          <p:cNvPr id="13" name="Rectangle 12"/>
          <p:cNvSpPr/>
          <p:nvPr/>
        </p:nvSpPr>
        <p:spPr>
          <a:xfrm>
            <a:off x="640080" y="5486400"/>
            <a:ext cx="10881360" cy="82296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23560"/>
            <a:ext cx="10332720" cy="594360"/>
          </a:xfrm>
          <a:prstGeom prst="rect">
            <a:avLst/>
          </a:prstGeom>
          <a:noFill/>
        </p:spPr>
        <p:txBody>
          <a:bodyPr wrap="square" lIns="0" rIns="0" tIns="0" bIns="0" anchor="ctr">
            <a:spAutoFit/>
          </a:bodyPr>
          <a:lstStyle/>
          <a:p>
            <a:pPr algn="l">
              <a:spcBef>
                <a:spcPts val="0"/>
              </a:spcBef>
              <a:spcAft>
                <a:spcPts val="0"/>
              </a:spcAft>
              <a:buNone/>
            </a:pPr>
            <a:r>
              <a:rPr sz="1600" b="1">
                <a:solidFill>
                  <a:srgbClr val="CA5F00"/>
                </a:solidFill>
                <a:latin typeface="Segoe UI Semibold"/>
              </a:rPr>
              <a:t>Microsoft has the winning tech on the device, and simply doesn't hand it to developers. That is the whole problem, and it is entirely fixable.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WHAT</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Claros: one platform, the whole fleet</a:t>
            </a:r>
          </a:p>
          <a:p>
            <a:pPr algn="l">
              <a:spcBef>
                <a:spcPts val="0"/>
              </a:spcBef>
              <a:spcAft>
                <a:spcPts val="0"/>
              </a:spcAft>
              <a:buNone/>
            </a:pPr>
            <a:r>
              <a:rPr sz="1800" b="0">
                <a:solidFill>
                  <a:srgbClr val="CFE0F3"/>
                </a:solidFill>
                <a:latin typeface="Segoe UI Light"/>
              </a:rPr>
              <a:t>A complete, cohesive speech API that runs beautifully on every Windows 11 PC, Copilot+ or not, because the models are that efficient.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WHAT · THE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One cohesive API: speak, listen, converse</a:t>
            </a:r>
          </a:p>
        </p:txBody>
      </p:sp>
      <p:sp>
        <p:nvSpPr>
          <p:cNvPr id="6" name="TextBox 5"/>
          <p:cNvSpPr txBox="1"/>
          <p:nvPr/>
        </p:nvSpPr>
        <p:spPr>
          <a:xfrm>
            <a:off x="640080" y="173736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Claros unifies the scattered pieces into a single, consistent surface, and it targets the fleet, not just Copilot+ PCs:</a:t>
            </a:r>
          </a:p>
        </p:txBody>
      </p:sp>
      <p:sp>
        <p:nvSpPr>
          <p:cNvPr id="7" name="Rectangle 6"/>
          <p:cNvSpPr/>
          <p:nvPr/>
        </p:nvSpPr>
        <p:spPr>
          <a:xfrm>
            <a:off x="658368"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23160"/>
            <a:ext cx="109728" cy="150876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Speak</a:t>
            </a:r>
          </a:p>
          <a:p>
            <a:pPr algn="l">
              <a:spcBef>
                <a:spcPts val="0"/>
              </a:spcBef>
              <a:spcAft>
                <a:spcPts val="0"/>
              </a:spcAft>
              <a:buNone/>
            </a:pPr>
            <a:r>
              <a:rPr sz="1400" b="0">
                <a:solidFill>
                  <a:srgbClr val="606060"/>
                </a:solidFill>
                <a:latin typeface="Segoe UI"/>
              </a:rPr>
              <a:t>Enumerate installed Natural HD voices and synthesize offline, live, with word-boundary events.</a:t>
            </a:r>
          </a:p>
        </p:txBody>
      </p:sp>
      <p:sp>
        <p:nvSpPr>
          <p:cNvPr id="10" name="Rectangle 9"/>
          <p:cNvSpPr/>
          <p:nvPr/>
        </p:nvSpPr>
        <p:spPr>
          <a:xfrm>
            <a:off x="6272784"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423160"/>
            <a:ext cx="109728" cy="150876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Listen</a:t>
            </a:r>
          </a:p>
          <a:p>
            <a:pPr algn="l">
              <a:spcBef>
                <a:spcPts val="0"/>
              </a:spcBef>
              <a:spcAft>
                <a:spcPts val="0"/>
              </a:spcAft>
              <a:buNone/>
            </a:pPr>
            <a:r>
              <a:rPr sz="1400" b="0">
                <a:solidFill>
                  <a:srgbClr val="606060"/>
                </a:solidFill>
                <a:latin typeface="Segoe UI"/>
              </a:rPr>
              <a:t>Recognize on-device with the Live Captions engine, one recognizer per source, clean finals.</a:t>
            </a:r>
          </a:p>
        </p:txBody>
      </p:sp>
      <p:sp>
        <p:nvSpPr>
          <p:cNvPr id="13" name="Rectangle 12"/>
          <p:cNvSpPr/>
          <p:nvPr/>
        </p:nvSpPr>
        <p:spPr>
          <a:xfrm>
            <a:off x="658368"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14800"/>
            <a:ext cx="109728" cy="150876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Converse</a:t>
            </a:r>
          </a:p>
          <a:p>
            <a:pPr algn="l">
              <a:spcBef>
                <a:spcPts val="0"/>
              </a:spcBef>
              <a:spcAft>
                <a:spcPts val="0"/>
              </a:spcAft>
              <a:buNone/>
            </a:pPr>
            <a:r>
              <a:rPr sz="1400" b="0">
                <a:solidFill>
                  <a:srgbClr val="606060"/>
                </a:solidFill>
                <a:latin typeface="Segoe UI"/>
              </a:rPr>
              <a:t>A full round-trip loop, capture to reply, with barge-in and a place to plug in intelligence.</a:t>
            </a:r>
          </a:p>
        </p:txBody>
      </p:sp>
      <p:sp>
        <p:nvSpPr>
          <p:cNvPr id="16" name="Rectangle 15"/>
          <p:cNvSpPr/>
          <p:nvPr/>
        </p:nvSpPr>
        <p:spPr>
          <a:xfrm>
            <a:off x="6272784"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14800"/>
            <a:ext cx="109728" cy="150876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Fleet-wide &amp; efficient</a:t>
            </a:r>
          </a:p>
          <a:p>
            <a:pPr algn="l">
              <a:spcBef>
                <a:spcPts val="0"/>
              </a:spcBef>
              <a:spcAft>
                <a:spcPts val="0"/>
              </a:spcAft>
              <a:buNone/>
            </a:pPr>
            <a:r>
              <a:rPr sz="1400" b="0">
                <a:solidFill>
                  <a:srgbClr val="606060"/>
                </a:solidFill>
                <a:latin typeface="Segoe UI"/>
              </a:rPr>
              <a:t>Runs great on CPU, better on NPU. Local-first and free; same code scales to Azure.</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One name, one shape, whole fleet. Claros is what ‘Windows.Speech’ should be: a platform a developer can just pick up, and their customers can actually run.</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THE PAYOFF</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Amazing quality, generated in real time</a:t>
            </a:r>
          </a:p>
        </p:txBody>
      </p:sp>
      <p:sp>
        <p:nvSpPr>
          <p:cNvPr id="6" name="VIDEO_FRAME"/>
          <p:cNvSpPr/>
          <p:nvPr/>
        </p:nvSpPr>
        <p:spPr>
          <a:xfrm>
            <a:off x="640080" y="1783080"/>
            <a:ext cx="7040880" cy="3977639"/>
          </a:xfrm>
          <a:prstGeom prst="rect">
            <a:avLst/>
          </a:prstGeom>
          <a:solidFill>
            <a:srgbClr val="0B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IDEO_PLAY"/>
          <p:cNvSpPr/>
          <p:nvPr/>
        </p:nvSpPr>
        <p:spPr>
          <a:xfrm>
            <a:off x="3794760" y="3429000"/>
            <a:ext cx="731520" cy="731520"/>
          </a:xfrm>
          <a:prstGeom prst="ellipse">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IDEO_PLAY_TRI"/>
          <p:cNvSpPr/>
          <p:nvPr/>
        </p:nvSpPr>
        <p:spPr>
          <a:xfrm rot="5400000">
            <a:off x="4041648" y="3611880"/>
            <a:ext cx="292608" cy="36576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257800"/>
            <a:ext cx="6675120" cy="365760"/>
          </a:xfrm>
          <a:prstGeom prst="rect">
            <a:avLst/>
          </a:prstGeom>
          <a:noFill/>
        </p:spPr>
        <p:txBody>
          <a:bodyPr wrap="square" lIns="0" rIns="0" tIns="0" bIns="0">
            <a:spAutoFit/>
          </a:bodyPr>
          <a:lstStyle/>
          <a:p>
            <a:pPr algn="l">
              <a:spcBef>
                <a:spcPts val="0"/>
              </a:spcBef>
              <a:spcAft>
                <a:spcPts val="0"/>
              </a:spcAft>
              <a:buNone/>
            </a:pPr>
            <a:r>
              <a:rPr sz="1300" b="0">
                <a:solidFill>
                  <a:srgbClr val="CFE0F3"/>
                </a:solidFill>
                <a:latin typeface="Segoe UI"/>
              </a:rPr>
              <a:t>WinUI sample · live on-device voiceover from a subtitle track</a:t>
            </a:r>
          </a:p>
        </p:txBody>
      </p:sp>
      <p:sp>
        <p:nvSpPr>
          <p:cNvPr id="10" name="TextBox 9"/>
          <p:cNvSpPr txBox="1"/>
          <p:nvPr/>
        </p:nvSpPr>
        <p:spPr>
          <a:xfrm>
            <a:off x="8001000" y="1828800"/>
            <a:ext cx="3611880" cy="3931920"/>
          </a:xfrm>
          <a:prstGeom prst="rect">
            <a:avLst/>
          </a:prstGeom>
          <a:noFill/>
        </p:spPr>
        <p:txBody>
          <a:bodyPr wrap="square" lIns="0" rIns="0" tIns="0" bIns="0">
            <a:spAutoFit/>
          </a:bodyPr>
          <a:lstStyle/>
          <a:p>
            <a:pPr algn="l">
              <a:spcBef>
                <a:spcPts val="0"/>
              </a:spcBef>
              <a:spcAft>
                <a:spcPts val="1200"/>
              </a:spcAft>
              <a:buNone/>
            </a:pPr>
            <a:r>
              <a:rPr sz="1600" b="1">
                <a:solidFill>
                  <a:srgbClr val="103A5E"/>
                </a:solidFill>
                <a:latin typeface="Segoe UI Semibold"/>
              </a:rPr>
              <a:t>This is the value it unlocks: studio-grade speech, generated live on the device, for free.</a:t>
            </a:r>
          </a:p>
          <a:p>
            <a:pPr algn="l">
              <a:spcBef>
                <a:spcPts val="0"/>
              </a:spcBef>
              <a:spcAft>
                <a:spcPts val="1200"/>
              </a:spcAft>
              <a:buFont typeface="Segoe UI"/>
              <a:buChar char="•"/>
            </a:pPr>
            <a:r>
              <a:rPr sz="1450" b="0">
                <a:solidFill>
                  <a:srgbClr val="1F1F1F"/>
                </a:solidFill>
                <a:latin typeface="Segoe UI"/>
              </a:rPr>
              <a:t>Indistinguishable from cloud neural voices, running fully offline.</a:t>
            </a:r>
          </a:p>
          <a:p>
            <a:pPr algn="l">
              <a:spcBef>
                <a:spcPts val="0"/>
              </a:spcBef>
              <a:spcAft>
                <a:spcPts val="1200"/>
              </a:spcAft>
              <a:buFont typeface="Segoe UI"/>
              <a:buChar char="•"/>
            </a:pPr>
            <a:r>
              <a:rPr sz="1450" b="0">
                <a:solidFill>
                  <a:srgbClr val="1F1F1F"/>
                </a:solidFill>
                <a:latin typeface="Segoe UI"/>
              </a:rPr>
              <a:t>Generated in real time on an ordinary CPU, no NPU, no wait.</a:t>
            </a:r>
          </a:p>
          <a:p>
            <a:pPr algn="l">
              <a:spcBef>
                <a:spcPts val="0"/>
              </a:spcBef>
              <a:spcAft>
                <a:spcPts val="1200"/>
              </a:spcAft>
              <a:buFont typeface="Segoe UI"/>
              <a:buChar char="•"/>
            </a:pPr>
            <a:r>
              <a:rPr sz="1450" b="0">
                <a:solidFill>
                  <a:srgbClr val="1F1F1F"/>
                </a:solidFill>
                <a:latin typeface="Segoe UI"/>
              </a:rPr>
              <a:t>Delivers the modern Microsoft mission: unmetered intelligence on every desk and in every home.</a:t>
            </a:r>
          </a:p>
        </p:txBody>
      </p:sp>
      <p:sp>
        <p:nvSpPr>
          <p:cNvPr id="11" name="TextBox 10"/>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2" name="TextBox 11"/>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POWERPOINT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Narrate every deck, with zero cloud cost</a:t>
            </a:r>
          </a:p>
        </p:txBody>
      </p:sp>
      <p:sp>
        <p:nvSpPr>
          <p:cNvPr id="6" name="Rectangle 5"/>
          <p:cNvSpPr/>
          <p:nvPr/>
        </p:nvSpPr>
        <p:spPr>
          <a:xfrm>
            <a:off x="658368"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65960"/>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POWERPOINT + CLAROS</a:t>
            </a:r>
          </a:p>
        </p:txBody>
      </p:sp>
      <p:sp>
        <p:nvSpPr>
          <p:cNvPr id="9" name="TextBox 8"/>
          <p:cNvSpPr txBox="1"/>
          <p:nvPr/>
        </p:nvSpPr>
        <p:spPr>
          <a:xfrm>
            <a:off x="950976"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Speaker notes become the narration script, one per slide.</a:t>
            </a:r>
          </a:p>
          <a:p>
            <a:pPr algn="l">
              <a:spcBef>
                <a:spcPts val="0"/>
              </a:spcBef>
              <a:spcAft>
                <a:spcPts val="1000"/>
              </a:spcAft>
              <a:buFont typeface="Segoe UI"/>
              <a:buChar char="•"/>
            </a:pPr>
            <a:r>
              <a:rPr sz="1450" b="0">
                <a:solidFill>
                  <a:srgbClr val="1F1F1F"/>
                </a:solidFill>
                <a:latin typeface="Segoe UI"/>
              </a:rPr>
              <a:t>Render the deck to a fully narrated MP4, on the device.</a:t>
            </a:r>
          </a:p>
          <a:p>
            <a:pPr algn="l">
              <a:spcBef>
                <a:spcPts val="0"/>
              </a:spcBef>
              <a:spcAft>
                <a:spcPts val="1000"/>
              </a:spcAft>
              <a:buFont typeface="Segoe UI"/>
              <a:buChar char="•"/>
            </a:pPr>
            <a:r>
              <a:rPr sz="1450" b="0">
                <a:solidFill>
                  <a:srgbClr val="1F1F1F"/>
                </a:solidFill>
                <a:latin typeface="Segoe UI"/>
              </a:rPr>
              <a:t>One deck, many languages, no re-recording.</a:t>
            </a:r>
          </a:p>
          <a:p>
            <a:pPr algn="l">
              <a:spcBef>
                <a:spcPts val="0"/>
              </a:spcBef>
              <a:spcAft>
                <a:spcPts val="1000"/>
              </a:spcAft>
              <a:buFont typeface="Segoe UI"/>
              <a:buChar char="•"/>
            </a:pPr>
            <a:r>
              <a:rPr sz="1450" b="0">
                <a:solidFill>
                  <a:srgbClr val="1F1F1F"/>
                </a:solidFill>
                <a:latin typeface="Segoe UI"/>
              </a:rPr>
              <a:t>Zero cloud cost: nothing is metered, nothing leaves the machine.</a:t>
            </a:r>
          </a:p>
        </p:txBody>
      </p:sp>
      <p:sp>
        <p:nvSpPr>
          <p:cNvPr id="10" name="Rectangle 9"/>
          <p:cNvSpPr/>
          <p:nvPr/>
        </p:nvSpPr>
        <p:spPr>
          <a:xfrm>
            <a:off x="6272784"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965960"/>
            <a:ext cx="5257800" cy="566928"/>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CLOUD VIDEO TOOLS (e.g. Synthesia)</a:t>
            </a:r>
          </a:p>
        </p:txBody>
      </p:sp>
      <p:sp>
        <p:nvSpPr>
          <p:cNvPr id="13" name="TextBox 12"/>
          <p:cNvSpPr txBox="1"/>
          <p:nvPr/>
        </p:nvSpPr>
        <p:spPr>
          <a:xfrm>
            <a:off x="6565392"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Per-minute or subscription cloud cost.</a:t>
            </a:r>
          </a:p>
          <a:p>
            <a:pPr algn="l">
              <a:spcBef>
                <a:spcPts val="0"/>
              </a:spcBef>
              <a:spcAft>
                <a:spcPts val="1000"/>
              </a:spcAft>
              <a:buFont typeface="Segoe UI"/>
              <a:buChar char="•"/>
            </a:pPr>
            <a:r>
              <a:rPr sz="1450" b="0">
                <a:solidFill>
                  <a:srgbClr val="1F1F1F"/>
                </a:solidFill>
                <a:latin typeface="Segoe UI"/>
              </a:rPr>
              <a:t>Script and slides leave the org to render.</a:t>
            </a:r>
          </a:p>
          <a:p>
            <a:pPr algn="l">
              <a:spcBef>
                <a:spcPts val="0"/>
              </a:spcBef>
              <a:spcAft>
                <a:spcPts val="1000"/>
              </a:spcAft>
              <a:buFont typeface="Segoe UI"/>
              <a:buChar char="•"/>
            </a:pPr>
            <a:r>
              <a:rPr sz="1450" b="0">
                <a:solidFill>
                  <a:srgbClr val="1F1F1F"/>
                </a:solidFill>
                <a:latin typeface="Segoe UI"/>
              </a:rPr>
              <a:t>Online-only; a separate tool and export step.</a:t>
            </a:r>
          </a:p>
          <a:p>
            <a:pPr algn="l">
              <a:spcBef>
                <a:spcPts val="0"/>
              </a:spcBef>
              <a:spcAft>
                <a:spcPts val="1000"/>
              </a:spcAft>
              <a:buFont typeface="Segoe UI"/>
              <a:buChar char="•"/>
            </a:pPr>
            <a:r>
              <a:rPr sz="1450" b="0">
                <a:solidFill>
                  <a:srgbClr val="1F1F1F"/>
                </a:solidFill>
                <a:latin typeface="Segoe UI"/>
              </a:rPr>
              <a:t>No on-device, private, or free tier.</a:t>
            </a:r>
          </a:p>
        </p:txBody>
      </p:sp>
      <p:sp>
        <p:nvSpPr>
          <p:cNvPr id="14" name="TextBox 13"/>
          <p:cNvSpPr txBox="1"/>
          <p:nvPr/>
        </p:nvSpPr>
        <p:spPr>
          <a:xfrm>
            <a:off x="658368" y="5440680"/>
            <a:ext cx="10881360" cy="73152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Clipchamp and PowerPoint voiceover run on Azure today; Claros makes the same narration local and free. Even this deck could narrate itself, on-device.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PROOF</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Efficient enough to change what teams can build</a:t>
            </a:r>
          </a:p>
          <a:p>
            <a:pPr algn="l">
              <a:spcBef>
                <a:spcPts val="0"/>
              </a:spcBef>
              <a:spcAft>
                <a:spcPts val="0"/>
              </a:spcAft>
              <a:buNone/>
            </a:pPr>
            <a:r>
              <a:rPr sz="1800" b="0">
                <a:solidFill>
                  <a:srgbClr val="CFE0F3"/>
                </a:solidFill>
                <a:latin typeface="Segoe UI Light"/>
              </a:rPr>
              <a:t>The clearest proof isn't a benchmark, it's a real product that couldn't ship until the speech got this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CONTOSO FINANCE</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From ‘barely runs’ to ‘room for a local LLM’</a:t>
            </a:r>
          </a:p>
        </p:txBody>
      </p:sp>
      <p:sp>
        <p:nvSpPr>
          <p:cNvPr id="6" name="TextBox 5"/>
          <p:cNvSpPr txBox="1"/>
          <p:nvPr/>
        </p:nvSpPr>
        <p:spPr>
          <a:xfrm>
            <a:off x="640080" y="1737360"/>
            <a:ext cx="10881360" cy="5943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Contoso Finance transcribes two-party advisor calls on the analyst's own PC. On a 16 GB machine, the speech engine decided whether the app could exist:</a:t>
            </a:r>
          </a:p>
        </p:txBody>
      </p:sp>
      <p:sp>
        <p:nvSpPr>
          <p:cNvPr id="7" name="Rectangle 6"/>
          <p:cNvSpPr/>
          <p:nvPr/>
        </p:nvSpPr>
        <p:spPr>
          <a:xfrm>
            <a:off x="658368" y="2468880"/>
            <a:ext cx="5257800" cy="210312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68880"/>
            <a:ext cx="5257800" cy="54864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BEFORE · Whisper (NPU or CPU)</a:t>
            </a:r>
          </a:p>
        </p:txBody>
      </p:sp>
      <p:sp>
        <p:nvSpPr>
          <p:cNvPr id="10" name="TextBox 9"/>
          <p:cNvSpPr txBox="1"/>
          <p:nvPr/>
        </p:nvSpPr>
        <p:spPr>
          <a:xfrm>
            <a:off x="932688"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CA5F00"/>
                </a:solidFill>
                <a:latin typeface="Segoe UI Semibold"/>
              </a:rPr>
              <a:t>≈ 4 GB</a:t>
            </a:r>
          </a:p>
          <a:p>
            <a:pPr algn="l">
              <a:spcBef>
                <a:spcPts val="0"/>
              </a:spcBef>
              <a:spcAft>
                <a:spcPts val="0"/>
              </a:spcAft>
              <a:buNone/>
            </a:pPr>
            <a:r>
              <a:rPr sz="1450" b="0">
                <a:solidFill>
                  <a:srgbClr val="1F1F1F"/>
                </a:solidFill>
                <a:latin typeface="Segoe UI"/>
              </a:rPr>
              <a:t>just for speech, on a 16 GB PC. Almost no headroom left, and ~4× the memory of the Mac doing the same job.</a:t>
            </a:r>
          </a:p>
        </p:txBody>
      </p:sp>
      <p:sp>
        <p:nvSpPr>
          <p:cNvPr id="11" name="Rectangle 10"/>
          <p:cNvSpPr/>
          <p:nvPr/>
        </p:nvSpPr>
        <p:spPr>
          <a:xfrm>
            <a:off x="6272784" y="2468880"/>
            <a:ext cx="5257800" cy="2103120"/>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468880"/>
            <a:ext cx="5257800" cy="54864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AFTER · Claros</a:t>
            </a:r>
          </a:p>
        </p:txBody>
      </p:sp>
      <p:sp>
        <p:nvSpPr>
          <p:cNvPr id="14" name="TextBox 13"/>
          <p:cNvSpPr txBox="1"/>
          <p:nvPr/>
        </p:nvSpPr>
        <p:spPr>
          <a:xfrm>
            <a:off x="6547104"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00998A"/>
                </a:solidFill>
                <a:latin typeface="Segoe UI Semibold"/>
              </a:rPr>
              <a:t>≈ 500 MB</a:t>
            </a:r>
          </a:p>
          <a:p>
            <a:pPr algn="l">
              <a:spcBef>
                <a:spcPts val="0"/>
              </a:spcBef>
              <a:spcAft>
                <a:spcPts val="0"/>
              </a:spcAft>
              <a:buNone/>
            </a:pPr>
            <a:r>
              <a:rPr sz="1450" b="0">
                <a:solidFill>
                  <a:srgbClr val="1F1F1F"/>
                </a:solidFill>
                <a:latin typeface="Segoe UI"/>
              </a:rPr>
              <a:t>same transcription, same accuracy, at roughly the Mac's footprint, freeing gigabytes back to the machine.</a:t>
            </a:r>
          </a:p>
        </p:txBody>
      </p:sp>
      <p:sp>
        <p:nvSpPr>
          <p:cNvPr id="15" name="Right Arrow 14"/>
          <p:cNvSpPr/>
          <p:nvPr/>
        </p:nvSpPr>
        <p:spPr>
          <a:xfrm>
            <a:off x="5852160" y="3383280"/>
            <a:ext cx="502920" cy="365760"/>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846320"/>
            <a:ext cx="10881360" cy="114300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010912"/>
            <a:ext cx="10332720" cy="822960"/>
          </a:xfrm>
          <a:prstGeom prst="rect">
            <a:avLst/>
          </a:prstGeom>
          <a:noFill/>
        </p:spPr>
        <p:txBody>
          <a:bodyPr wrap="square" lIns="0" rIns="0" tIns="0" bIns="0" anchor="ctr">
            <a:spAutoFit/>
          </a:bodyPr>
          <a:lstStyle/>
          <a:p>
            <a:pPr algn="l">
              <a:spcBef>
                <a:spcPts val="0"/>
              </a:spcBef>
              <a:spcAft>
                <a:spcPts val="0"/>
              </a:spcAft>
              <a:buNone/>
            </a:pPr>
            <a:r>
              <a:rPr sz="1600" b="1">
                <a:solidFill>
                  <a:srgbClr val="103A5E"/>
                </a:solidFill>
                <a:latin typeface="Segoe UI Semibold"/>
              </a:rPr>
              <a:t>That freed memory does two things: it lets the app ship on a normal 16 GB PC at all, and it leaves room to run a local LLM alongside the transcription, impossible today under Whisper's memory pressure. Efficiency is what makes on-device intelligence practical.</a:t>
            </a:r>
          </a:p>
        </p:txBody>
      </p:sp>
      <p:sp>
        <p:nvSpPr>
          <p:cNvPr id="18" name="TextBox 17"/>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9" name="TextBox 18"/>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THE NUMBERS</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Mac-class accuracy at a fraction of the memory</a:t>
            </a:r>
          </a:p>
        </p:txBody>
      </p:sp>
      <p:sp>
        <p:nvSpPr>
          <p:cNvPr id="6" name="TextBox 5"/>
          <p:cNvSpPr txBox="1"/>
          <p:nvPr/>
        </p:nvSpPr>
        <p:spPr>
          <a:xfrm>
            <a:off x="640080" y="1600200"/>
            <a:ext cx="10881360" cy="457200"/>
          </a:xfrm>
          <a:prstGeom prst="rect">
            <a:avLst/>
          </a:prstGeom>
          <a:noFill/>
        </p:spPr>
        <p:txBody>
          <a:bodyPr wrap="square" lIns="0" rIns="0" tIns="0" bIns="0">
            <a:spAutoFit/>
          </a:bodyPr>
          <a:lstStyle/>
          <a:p>
            <a:pPr algn="l">
              <a:spcBef>
                <a:spcPts val="0"/>
              </a:spcBef>
              <a:spcAft>
                <a:spcPts val="0"/>
              </a:spcAft>
              <a:buNone/>
            </a:pPr>
            <a:r>
              <a:rPr sz="1350" b="0">
                <a:solidFill>
                  <a:srgbClr val="606060"/>
                </a:solidFill>
                <a:latin typeface="Segoe UI"/>
              </a:rPr>
              <a:t>Real 58 s two-party mortgage call, normalized to a 2-leg call (one recognizer per speaker); single-stream engines doubled.</a:t>
            </a:r>
          </a:p>
        </p:txBody>
      </p:sp>
      <p:sp>
        <p:nvSpPr>
          <p:cNvPr id="7" name="Rectangle 6"/>
          <p:cNvSpPr/>
          <p:nvPr/>
        </p:nvSpPr>
        <p:spPr>
          <a:xfrm>
            <a:off x="640080" y="2011680"/>
            <a:ext cx="10881360" cy="4572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2011680"/>
            <a:ext cx="32461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Engine</a:t>
            </a:r>
          </a:p>
        </p:txBody>
      </p:sp>
      <p:sp>
        <p:nvSpPr>
          <p:cNvPr id="9" name="TextBox 8"/>
          <p:cNvSpPr txBox="1"/>
          <p:nvPr/>
        </p:nvSpPr>
        <p:spPr>
          <a:xfrm>
            <a:off x="4206240" y="2011680"/>
            <a:ext cx="109728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First final</a:t>
            </a:r>
          </a:p>
        </p:txBody>
      </p:sp>
      <p:sp>
        <p:nvSpPr>
          <p:cNvPr id="10" name="TextBox 9"/>
          <p:cNvSpPr txBox="1"/>
          <p:nvPr/>
        </p:nvSpPr>
        <p:spPr>
          <a:xfrm>
            <a:off x="5532120" y="2011680"/>
            <a:ext cx="169164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Peak RAM (2 legs)</a:t>
            </a:r>
          </a:p>
        </p:txBody>
      </p:sp>
      <p:sp>
        <p:nvSpPr>
          <p:cNvPr id="11" name="TextBox 10"/>
          <p:cNvSpPr txBox="1"/>
          <p:nvPr/>
        </p:nvSpPr>
        <p:spPr>
          <a:xfrm>
            <a:off x="7452360" y="2011680"/>
            <a:ext cx="128016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Hardware</a:t>
            </a:r>
          </a:p>
        </p:txBody>
      </p:sp>
      <p:sp>
        <p:nvSpPr>
          <p:cNvPr id="12" name="TextBox 11"/>
          <p:cNvSpPr txBox="1"/>
          <p:nvPr/>
        </p:nvSpPr>
        <p:spPr>
          <a:xfrm>
            <a:off x="8915400" y="2011680"/>
            <a:ext cx="25603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Numbers / ITN</a:t>
            </a:r>
          </a:p>
        </p:txBody>
      </p:sp>
      <p:sp>
        <p:nvSpPr>
          <p:cNvPr id="13" name="Rectangle 12"/>
          <p:cNvSpPr/>
          <p:nvPr/>
        </p:nvSpPr>
        <p:spPr>
          <a:xfrm>
            <a:off x="640080" y="2468880"/>
            <a:ext cx="10881360" cy="512064"/>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468880"/>
            <a:ext cx="91440" cy="51206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468880"/>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Claros (Live Captions)</a:t>
            </a:r>
          </a:p>
        </p:txBody>
      </p:sp>
      <p:sp>
        <p:nvSpPr>
          <p:cNvPr id="16" name="TextBox 15"/>
          <p:cNvSpPr txBox="1"/>
          <p:nvPr/>
        </p:nvSpPr>
        <p:spPr>
          <a:xfrm>
            <a:off x="4206240" y="2468880"/>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17" name="TextBox 16"/>
          <p:cNvSpPr txBox="1"/>
          <p:nvPr/>
        </p:nvSpPr>
        <p:spPr>
          <a:xfrm>
            <a:off x="5532120" y="2468880"/>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~500 MB</a:t>
            </a:r>
          </a:p>
        </p:txBody>
      </p:sp>
      <p:sp>
        <p:nvSpPr>
          <p:cNvPr id="18" name="TextBox 17"/>
          <p:cNvSpPr txBox="1"/>
          <p:nvPr/>
        </p:nvSpPr>
        <p:spPr>
          <a:xfrm>
            <a:off x="7452360" y="2468880"/>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19" name="TextBox 18"/>
          <p:cNvSpPr txBox="1"/>
          <p:nvPr/>
        </p:nvSpPr>
        <p:spPr>
          <a:xfrm>
            <a:off x="8915400" y="2468880"/>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Words yes; ITN off today (fixable)</a:t>
            </a:r>
          </a:p>
        </p:txBody>
      </p:sp>
      <p:sp>
        <p:nvSpPr>
          <p:cNvPr id="20" name="Rectangle 19"/>
          <p:cNvSpPr/>
          <p:nvPr/>
        </p:nvSpPr>
        <p:spPr>
          <a:xfrm>
            <a:off x="640080" y="2980944"/>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19" y="2980944"/>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Apple SpeechAnalyzer (macOS)</a:t>
            </a:r>
          </a:p>
        </p:txBody>
      </p:sp>
      <p:sp>
        <p:nvSpPr>
          <p:cNvPr id="22" name="TextBox 21"/>
          <p:cNvSpPr txBox="1"/>
          <p:nvPr/>
        </p:nvSpPr>
        <p:spPr>
          <a:xfrm>
            <a:off x="4206240" y="2980944"/>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23" name="TextBox 22"/>
          <p:cNvSpPr txBox="1"/>
          <p:nvPr/>
        </p:nvSpPr>
        <p:spPr>
          <a:xfrm>
            <a:off x="5532120" y="2980944"/>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~440 MB</a:t>
            </a:r>
          </a:p>
        </p:txBody>
      </p:sp>
      <p:sp>
        <p:nvSpPr>
          <p:cNvPr id="24" name="TextBox 23"/>
          <p:cNvSpPr txBox="1"/>
          <p:nvPr/>
        </p:nvSpPr>
        <p:spPr>
          <a:xfrm>
            <a:off x="7452360" y="2980944"/>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Apple ANE</a:t>
            </a:r>
          </a:p>
        </p:txBody>
      </p:sp>
      <p:sp>
        <p:nvSpPr>
          <p:cNvPr id="25" name="TextBox 24"/>
          <p:cNvSpPr txBox="1"/>
          <p:nvPr/>
        </p:nvSpPr>
        <p:spPr>
          <a:xfrm>
            <a:off x="8915400" y="2980944"/>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$610,000, 6.2%</a:t>
            </a:r>
          </a:p>
        </p:txBody>
      </p:sp>
      <p:sp>
        <p:nvSpPr>
          <p:cNvPr id="26" name="Rectangle 25"/>
          <p:cNvSpPr/>
          <p:nvPr/>
        </p:nvSpPr>
        <p:spPr>
          <a:xfrm>
            <a:off x="640080" y="3493008"/>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493008"/>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WinAI Speech Preview</a:t>
            </a:r>
          </a:p>
        </p:txBody>
      </p:sp>
      <p:sp>
        <p:nvSpPr>
          <p:cNvPr id="28" name="TextBox 27"/>
          <p:cNvSpPr txBox="1"/>
          <p:nvPr/>
        </p:nvSpPr>
        <p:spPr>
          <a:xfrm>
            <a:off x="4206240" y="3493008"/>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3.5 s</a:t>
            </a:r>
          </a:p>
        </p:txBody>
      </p:sp>
      <p:sp>
        <p:nvSpPr>
          <p:cNvPr id="29" name="TextBox 28"/>
          <p:cNvSpPr txBox="1"/>
          <p:nvPr/>
        </p:nvSpPr>
        <p:spPr>
          <a:xfrm>
            <a:off x="5532120" y="3493008"/>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~6,400 MB</a:t>
            </a:r>
          </a:p>
        </p:txBody>
      </p:sp>
      <p:sp>
        <p:nvSpPr>
          <p:cNvPr id="30" name="TextBox 29"/>
          <p:cNvSpPr txBox="1"/>
          <p:nvPr/>
        </p:nvSpPr>
        <p:spPr>
          <a:xfrm>
            <a:off x="7452360" y="3493008"/>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Hexagon NPU</a:t>
            </a:r>
          </a:p>
        </p:txBody>
      </p:sp>
      <p:sp>
        <p:nvSpPr>
          <p:cNvPr id="31" name="TextBox 30"/>
          <p:cNvSpPr txBox="1"/>
          <p:nvPr/>
        </p:nvSpPr>
        <p:spPr>
          <a:xfrm>
            <a:off x="8915400" y="3493008"/>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(Whisper Turbo)</a:t>
            </a:r>
          </a:p>
        </p:txBody>
      </p:sp>
      <p:sp>
        <p:nvSpPr>
          <p:cNvPr id="32" name="Rectangle 31"/>
          <p:cNvSpPr/>
          <p:nvPr/>
        </p:nvSpPr>
        <p:spPr>
          <a:xfrm>
            <a:off x="640080" y="4005072"/>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4005072"/>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Nemotron 0.6B (Foundry Local)</a:t>
            </a:r>
          </a:p>
        </p:txBody>
      </p:sp>
      <p:sp>
        <p:nvSpPr>
          <p:cNvPr id="34" name="TextBox 33"/>
          <p:cNvSpPr txBox="1"/>
          <p:nvPr/>
        </p:nvSpPr>
        <p:spPr>
          <a:xfrm>
            <a:off x="4206240" y="4005072"/>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 s</a:t>
            </a:r>
          </a:p>
        </p:txBody>
      </p:sp>
      <p:sp>
        <p:nvSpPr>
          <p:cNvPr id="35" name="TextBox 34"/>
          <p:cNvSpPr txBox="1"/>
          <p:nvPr/>
        </p:nvSpPr>
        <p:spPr>
          <a:xfrm>
            <a:off x="5532120" y="4005072"/>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~1,750 MB</a:t>
            </a:r>
          </a:p>
        </p:txBody>
      </p:sp>
      <p:sp>
        <p:nvSpPr>
          <p:cNvPr id="36" name="TextBox 35"/>
          <p:cNvSpPr txBox="1"/>
          <p:nvPr/>
        </p:nvSpPr>
        <p:spPr>
          <a:xfrm>
            <a:off x="7452360" y="4005072"/>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37" name="TextBox 36"/>
          <p:cNvSpPr txBox="1"/>
          <p:nvPr/>
        </p:nvSpPr>
        <p:spPr>
          <a:xfrm>
            <a:off x="8915400" y="4005072"/>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No clean sentence breaks</a:t>
            </a:r>
          </a:p>
        </p:txBody>
      </p:sp>
      <p:sp>
        <p:nvSpPr>
          <p:cNvPr id="38" name="Rectangle 37"/>
          <p:cNvSpPr/>
          <p:nvPr/>
        </p:nvSpPr>
        <p:spPr>
          <a:xfrm>
            <a:off x="640080" y="4517136"/>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517136"/>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Parakeet TDT 0.6b</a:t>
            </a:r>
          </a:p>
        </p:txBody>
      </p:sp>
      <p:sp>
        <p:nvSpPr>
          <p:cNvPr id="40" name="TextBox 39"/>
          <p:cNvSpPr txBox="1"/>
          <p:nvPr/>
        </p:nvSpPr>
        <p:spPr>
          <a:xfrm>
            <a:off x="4206240" y="4517136"/>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1.4 s</a:t>
            </a:r>
          </a:p>
        </p:txBody>
      </p:sp>
      <p:sp>
        <p:nvSpPr>
          <p:cNvPr id="41" name="TextBox 40"/>
          <p:cNvSpPr txBox="1"/>
          <p:nvPr/>
        </p:nvSpPr>
        <p:spPr>
          <a:xfrm>
            <a:off x="5532120" y="4517136"/>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~1,780 MB / leg</a:t>
            </a:r>
          </a:p>
        </p:txBody>
      </p:sp>
      <p:sp>
        <p:nvSpPr>
          <p:cNvPr id="42" name="TextBox 41"/>
          <p:cNvSpPr txBox="1"/>
          <p:nvPr/>
        </p:nvSpPr>
        <p:spPr>
          <a:xfrm>
            <a:off x="7452360" y="4517136"/>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43" name="TextBox 42"/>
          <p:cNvSpPr txBox="1"/>
          <p:nvPr/>
        </p:nvSpPr>
        <p:spPr>
          <a:xfrm>
            <a:off x="8915400" y="4517136"/>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Good ITN, but duplicates finals</a:t>
            </a:r>
          </a:p>
        </p:txBody>
      </p:sp>
      <p:sp>
        <p:nvSpPr>
          <p:cNvPr id="44" name="Rectangle 43"/>
          <p:cNvSpPr/>
          <p:nvPr/>
        </p:nvSpPr>
        <p:spPr>
          <a:xfrm>
            <a:off x="640080" y="5029200"/>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19" y="5029200"/>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Whisper small (CPU ONNX)</a:t>
            </a:r>
          </a:p>
        </p:txBody>
      </p:sp>
      <p:sp>
        <p:nvSpPr>
          <p:cNvPr id="46" name="TextBox 45"/>
          <p:cNvSpPr txBox="1"/>
          <p:nvPr/>
        </p:nvSpPr>
        <p:spPr>
          <a:xfrm>
            <a:off x="4206240" y="5029200"/>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2.3 s</a:t>
            </a:r>
          </a:p>
        </p:txBody>
      </p:sp>
      <p:sp>
        <p:nvSpPr>
          <p:cNvPr id="47" name="TextBox 46"/>
          <p:cNvSpPr txBox="1"/>
          <p:nvPr/>
        </p:nvSpPr>
        <p:spPr>
          <a:xfrm>
            <a:off x="5532120" y="5029200"/>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~1,200 MB</a:t>
            </a:r>
          </a:p>
        </p:txBody>
      </p:sp>
      <p:sp>
        <p:nvSpPr>
          <p:cNvPr id="48" name="TextBox 47"/>
          <p:cNvSpPr txBox="1"/>
          <p:nvPr/>
        </p:nvSpPr>
        <p:spPr>
          <a:xfrm>
            <a:off x="7452360" y="5029200"/>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49" name="TextBox 48"/>
          <p:cNvSpPr txBox="1"/>
          <p:nvPr/>
        </p:nvSpPr>
        <p:spPr>
          <a:xfrm>
            <a:off x="8915400" y="5029200"/>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Low: hallucinates numbers</a:t>
            </a:r>
          </a:p>
        </p:txBody>
      </p:sp>
      <p:sp>
        <p:nvSpPr>
          <p:cNvPr id="50" name="Rectangle 49"/>
          <p:cNvSpPr/>
          <p:nvPr/>
        </p:nvSpPr>
        <p:spPr>
          <a:xfrm>
            <a:off x="640080" y="5650992"/>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 y="5760720"/>
            <a:ext cx="10332720" cy="777240"/>
          </a:xfrm>
          <a:prstGeom prst="rect">
            <a:avLst/>
          </a:prstGeom>
          <a:noFill/>
        </p:spPr>
        <p:txBody>
          <a:bodyPr wrap="square" lIns="0" rIns="0" tIns="0" bIns="0" anchor="ctr">
            <a:spAutoFit/>
          </a:bodyPr>
          <a:lstStyle/>
          <a:p>
            <a:pPr algn="l">
              <a:spcBef>
                <a:spcPts val="0"/>
              </a:spcBef>
              <a:spcAft>
                <a:spcPts val="0"/>
              </a:spcAft>
              <a:buNone/>
            </a:pPr>
            <a:r>
              <a:rPr sz="1350" b="1">
                <a:solidFill>
                  <a:srgbClr val="103A5E"/>
                </a:solidFill>
                <a:latin typeface="Segoe UI Semibold"/>
              </a:rPr>
              <a:t>Claros matches the peers on word accuracy at ~500 MB for two legs, ~13× less RAM than the NPU path, no NPU. One honest gap: it emits spelled-out numbers today because the shipping ITN model sits behind a native finalizer we disable for ARM64 stability, fixable in-box. The rest are out on quality or, for Parakeet, on being unable to hold real time once finals must be immutable.</a:t>
            </a:r>
          </a:p>
        </p:txBody>
      </p:sp>
      <p:sp>
        <p:nvSpPr>
          <p:cNvPr id="52" name="TextBox 51"/>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53" name="TextBox 52"/>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HOW</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Make this implementation real</a:t>
            </a:r>
          </a:p>
          <a:p>
            <a:pPr algn="l">
              <a:spcBef>
                <a:spcPts val="0"/>
              </a:spcBef>
              <a:spcAft>
                <a:spcPts val="0"/>
              </a:spcAft>
              <a:buNone/>
            </a:pPr>
            <a:r>
              <a:rPr sz="1800" b="0">
                <a:solidFill>
                  <a:srgbClr val="CFE0F3"/>
                </a:solidFill>
                <a:latin typeface="Segoe UI Light"/>
              </a:rPr>
              <a:t>It works today. The only thing between this hack and a real platform is a decision Microsoft already owns.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HOW · THE DESIGN</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Local by default. The same SDK scales to Azure.</a:t>
            </a:r>
          </a:p>
        </p:txBody>
      </p:sp>
      <p:sp>
        <p:nvSpPr>
          <p:cNvPr id="6" name="Rectangle 5"/>
          <p:cNvSpPr/>
          <p:nvPr/>
        </p:nvSpPr>
        <p:spPr>
          <a:xfrm>
            <a:off x="658368"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74519"/>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DEFAULT: on-device</a:t>
            </a:r>
          </a:p>
        </p:txBody>
      </p:sp>
      <p:sp>
        <p:nvSpPr>
          <p:cNvPr id="9" name="TextBox 8"/>
          <p:cNvSpPr txBox="1"/>
          <p:nvPr/>
        </p:nvSpPr>
        <p:spPr>
          <a:xfrm>
            <a:off x="950976"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Offline, private, free, instant.</a:t>
            </a:r>
          </a:p>
          <a:p>
            <a:pPr algn="l">
              <a:spcBef>
                <a:spcPts val="0"/>
              </a:spcBef>
              <a:spcAft>
                <a:spcPts val="900"/>
              </a:spcAft>
              <a:buFont typeface="Segoe UI"/>
              <a:buChar char="•"/>
            </a:pPr>
            <a:r>
              <a:rPr sz="1500" b="0">
                <a:solidFill>
                  <a:srgbClr val="1F1F1F"/>
                </a:solidFill>
                <a:latin typeface="Segoe UI"/>
              </a:rPr>
              <a:t>Runs on the whole fleet, no NPU required.</a:t>
            </a:r>
          </a:p>
          <a:p>
            <a:pPr algn="l">
              <a:spcBef>
                <a:spcPts val="0"/>
              </a:spcBef>
              <a:spcAft>
                <a:spcPts val="900"/>
              </a:spcAft>
              <a:buFont typeface="Segoe UI"/>
              <a:buChar char="•"/>
            </a:pPr>
            <a:r>
              <a:rPr sz="1500" b="0">
                <a:solidFill>
                  <a:srgbClr val="1F1F1F"/>
                </a:solidFill>
                <a:latin typeface="Segoe UI"/>
              </a:rPr>
              <a:t>EmbeddedSpeechConfig on the installed voice + Live Captions model.</a:t>
            </a:r>
          </a:p>
        </p:txBody>
      </p:sp>
      <p:sp>
        <p:nvSpPr>
          <p:cNvPr id="10" name="Rectangle 9"/>
          <p:cNvSpPr/>
          <p:nvPr/>
        </p:nvSpPr>
        <p:spPr>
          <a:xfrm>
            <a:off x="6272784"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874519"/>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UPSELL: same code + your Azure creds</a:t>
            </a:r>
          </a:p>
        </p:txBody>
      </p:sp>
      <p:sp>
        <p:nvSpPr>
          <p:cNvPr id="13" name="TextBox 12"/>
          <p:cNvSpPr txBox="1"/>
          <p:nvPr/>
        </p:nvSpPr>
        <p:spPr>
          <a:xfrm>
            <a:off x="6565392"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Swap in a cloud SpeechConfig(key, region).</a:t>
            </a:r>
          </a:p>
          <a:p>
            <a:pPr algn="l">
              <a:spcBef>
                <a:spcPts val="0"/>
              </a:spcBef>
              <a:spcAft>
                <a:spcPts val="900"/>
              </a:spcAft>
              <a:buFont typeface="Segoe UI"/>
              <a:buChar char="•"/>
            </a:pPr>
            <a:r>
              <a:rPr sz="1500" b="0">
                <a:solidFill>
                  <a:srgbClr val="1F1F1F"/>
                </a:solidFill>
                <a:latin typeface="Segoe UI"/>
              </a:rPr>
              <a:t>Same SpeechSynthesizer / SpeechRecognizer calls, same voices.</a:t>
            </a:r>
          </a:p>
          <a:p>
            <a:pPr algn="l">
              <a:spcBef>
                <a:spcPts val="0"/>
              </a:spcBef>
              <a:spcAft>
                <a:spcPts val="900"/>
              </a:spcAft>
              <a:buFont typeface="Segoe UI"/>
              <a:buChar char="•"/>
            </a:pPr>
            <a:r>
              <a:rPr sz="1500" b="0">
                <a:solidFill>
                  <a:srgbClr val="1F1F1F"/>
                </a:solidFill>
                <a:latin typeface="Segoe UI"/>
              </a:rPr>
              <a:t>More voices, more languages, server-side scale.</a:t>
            </a:r>
          </a:p>
        </p:txBody>
      </p:sp>
      <p:sp>
        <p:nvSpPr>
          <p:cNvPr id="14" name="Right Arrow 13"/>
          <p:cNvSpPr/>
          <p:nvPr/>
        </p:nvSpPr>
        <p:spPr>
          <a:xfrm>
            <a:off x="5852160" y="3063240"/>
            <a:ext cx="502920" cy="365760"/>
          </a:xfrm>
          <a:prstGeom prst="rightArrow">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892040"/>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029200"/>
            <a:ext cx="10332720" cy="731520"/>
          </a:xfrm>
          <a:prstGeom prst="rect">
            <a:avLst/>
          </a:prstGeom>
          <a:noFill/>
        </p:spPr>
        <p:txBody>
          <a:bodyPr wrap="square" lIns="0" rIns="0" tIns="0" bIns="0" anchor="ctr">
            <a:spAutoFit/>
          </a:bodyPr>
          <a:lstStyle/>
          <a:p>
            <a:pPr algn="l">
              <a:spcBef>
                <a:spcPts val="0"/>
              </a:spcBef>
              <a:spcAft>
                <a:spcPts val="0"/>
              </a:spcAft>
              <a:buNone/>
            </a:pPr>
            <a:r>
              <a:rPr sz="1500" b="1">
                <a:solidFill>
                  <a:srgbClr val="103A5E"/>
                </a:solidFill>
                <a:latin typeface="Segoe UI Semibold"/>
              </a:rPr>
              <a:t>This isn't hand-waving: the reference implementation is the Azure Speech SDK in embedded mode. The upgrade to Azure is a config swap, not a rewrite. Local is the free on-ramp; Azure plus Microsoft's own apps is a funnel no rival can match.</a:t>
            </a:r>
          </a:p>
        </p:txBody>
      </p:sp>
      <p:sp>
        <p:nvSpPr>
          <p:cNvPr id="17" name="TextBox 16"/>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8" name="TextBox 17"/>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48640"/>
            <a:ext cx="10972800" cy="1097280"/>
          </a:xfrm>
          <a:prstGeom prst="rect">
            <a:avLst/>
          </a:prstGeom>
          <a:noFill/>
        </p:spPr>
        <p:txBody>
          <a:bodyPr wrap="square" lIns="0" rIns="0" tIns="0" bIns="0">
            <a:spAutoFit/>
          </a:bodyPr>
          <a:lstStyle/>
          <a:p>
            <a:pPr algn="l">
              <a:spcBef>
                <a:spcPts val="0"/>
              </a:spcBef>
              <a:spcAft>
                <a:spcPts val="600"/>
              </a:spcAft>
              <a:buNone/>
            </a:pPr>
            <a:r>
              <a:rPr sz="1400" b="1">
                <a:solidFill>
                  <a:srgbClr val="8FC4F0"/>
                </a:solidFill>
                <a:latin typeface="Segoe UI Semibold"/>
              </a:rPr>
              <a:t>THE ASK TO MICROSOFT</a:t>
            </a:r>
          </a:p>
          <a:p>
            <a:pPr algn="l">
              <a:spcBef>
                <a:spcPts val="0"/>
              </a:spcBef>
              <a:spcAft>
                <a:spcPts val="0"/>
              </a:spcAft>
              <a:buNone/>
            </a:pPr>
            <a:r>
              <a:rPr sz="3200" b="1">
                <a:solidFill>
                  <a:srgbClr val="FFFFFF"/>
                </a:solidFill>
                <a:latin typeface="Segoe UI Semibold"/>
              </a:rPr>
              <a:t>Make this implementation real</a:t>
            </a:r>
          </a:p>
        </p:txBody>
      </p:sp>
      <p:sp>
        <p:nvSpPr>
          <p:cNvPr id="5" name="TextBox 4"/>
          <p:cNvSpPr txBox="1"/>
          <p:nvPr/>
        </p:nvSpPr>
        <p:spPr>
          <a:xfrm>
            <a:off x="640080" y="1783080"/>
            <a:ext cx="10881360" cy="914400"/>
          </a:xfrm>
          <a:prstGeom prst="rect">
            <a:avLst/>
          </a:prstGeom>
          <a:noFill/>
        </p:spPr>
        <p:txBody>
          <a:bodyPr wrap="square" lIns="0" rIns="0" tIns="0" bIns="0">
            <a:spAutoFit/>
          </a:bodyPr>
          <a:lstStyle/>
          <a:p>
            <a:pPr algn="l">
              <a:spcBef>
                <a:spcPts val="0"/>
              </a:spcBef>
              <a:spcAft>
                <a:spcPts val="0"/>
              </a:spcAft>
              <a:buNone/>
            </a:pPr>
            <a:r>
              <a:rPr sz="1600" b="0">
                <a:solidFill>
                  <a:srgbClr val="CFE0F3"/>
                </a:solidFill>
                <a:latin typeface="Segoe UI"/>
              </a:rPr>
              <a:t>This repo is a complete, working reference implementation. It runs today only by hacking around the on-device licensing, and that hack was trivial to bypass. There is no technical barrier left, only a decision:</a:t>
            </a:r>
          </a:p>
        </p:txBody>
      </p:sp>
      <p:sp>
        <p:nvSpPr>
          <p:cNvPr id="6" name="Rectangle 5"/>
          <p:cNvSpPr/>
          <p:nvPr/>
        </p:nvSpPr>
        <p:spPr>
          <a:xfrm>
            <a:off x="640080" y="2788920"/>
            <a:ext cx="10881360" cy="960120"/>
          </a:xfrm>
          <a:prstGeom prst="rect">
            <a:avLst/>
          </a:prstGeom>
          <a:solidFill>
            <a:srgbClr val="164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926080"/>
            <a:ext cx="10332720" cy="685800"/>
          </a:xfrm>
          <a:prstGeom prst="rect">
            <a:avLst/>
          </a:prstGeom>
          <a:noFill/>
        </p:spPr>
        <p:txBody>
          <a:bodyPr wrap="square" lIns="0" rIns="0" tIns="0" bIns="0" anchor="ctr">
            <a:spAutoFit/>
          </a:bodyPr>
          <a:lstStyle/>
          <a:p>
            <a:pPr algn="l">
              <a:spcBef>
                <a:spcPts val="0"/>
              </a:spcBef>
              <a:spcAft>
                <a:spcPts val="0"/>
              </a:spcAft>
              <a:buNone/>
            </a:pPr>
            <a:r>
              <a:rPr sz="2200" b="1">
                <a:solidFill>
                  <a:srgbClr val="FFFFFF"/>
                </a:solidFill>
                <a:latin typeface="Segoe UI Semibold"/>
              </a:rPr>
              <a:t>The only blocker is a licensing key, and Microsoft controls it.</a:t>
            </a:r>
          </a:p>
        </p:txBody>
      </p:sp>
      <p:sp>
        <p:nvSpPr>
          <p:cNvPr id="8" name="TextBox 7"/>
          <p:cNvSpPr txBox="1"/>
          <p:nvPr/>
        </p:nvSpPr>
        <p:spPr>
          <a:xfrm>
            <a:off x="914400" y="4023360"/>
            <a:ext cx="10424160" cy="1463040"/>
          </a:xfrm>
          <a:prstGeom prst="rect">
            <a:avLst/>
          </a:prstGeom>
          <a:noFill/>
        </p:spPr>
        <p:txBody>
          <a:bodyPr wrap="square" lIns="0" rIns="0" tIns="0" bIns="0">
            <a:spAutoFit/>
          </a:bodyPr>
          <a:lstStyle/>
          <a:p>
            <a:pPr algn="l">
              <a:spcBef>
                <a:spcPts val="0"/>
              </a:spcBef>
              <a:spcAft>
                <a:spcPts val="900"/>
              </a:spcAft>
              <a:buFont typeface="Segoe UI"/>
              <a:buChar char="•"/>
            </a:pPr>
            <a:r>
              <a:rPr sz="1600" b="0">
                <a:solidFill>
                  <a:srgbClr val="FFFFFF"/>
                </a:solidFill>
                <a:latin typeface="Segoe UI"/>
              </a:rPr>
              <a:t>Bless the license so any app can reach the on-device runtime, no hack.</a:t>
            </a:r>
          </a:p>
          <a:p>
            <a:pPr algn="l">
              <a:spcBef>
                <a:spcPts val="0"/>
              </a:spcBef>
              <a:spcAft>
                <a:spcPts val="900"/>
              </a:spcAft>
              <a:buFont typeface="Segoe UI"/>
              <a:buChar char="•"/>
            </a:pPr>
            <a:r>
              <a:rPr sz="1600" b="0">
                <a:solidFill>
                  <a:srgbClr val="FFFFFF"/>
                </a:solidFill>
                <a:latin typeface="Segoe UI"/>
              </a:rPr>
              <a:t>Unite the scattered efforts (WinAI, Foundry, HD voices, Live Captions) behind one platform.</a:t>
            </a:r>
          </a:p>
          <a:p>
            <a:pPr algn="l">
              <a:spcBef>
                <a:spcPts val="0"/>
              </a:spcBef>
              <a:spcAft>
                <a:spcPts val="900"/>
              </a:spcAft>
              <a:buFont typeface="Segoe UI"/>
              <a:buChar char="•"/>
            </a:pPr>
            <a:r>
              <a:rPr sz="1600" b="0">
                <a:solidFill>
                  <a:srgbClr val="FFFFFF"/>
                </a:solidFill>
                <a:latin typeface="Segoe UI"/>
              </a:rPr>
              <a:t>Ship it as Windows.Speech: cohesive, fleet-wide, on-device, with a paved road to Azure.</a:t>
            </a:r>
          </a:p>
        </p:txBody>
      </p:sp>
      <p:sp>
        <p:nvSpPr>
          <p:cNvPr id="9" name="TextBox 8"/>
          <p:cNvSpPr txBox="1"/>
          <p:nvPr/>
        </p:nvSpPr>
        <p:spPr>
          <a:xfrm>
            <a:off x="640080" y="5806440"/>
            <a:ext cx="10881360" cy="640080"/>
          </a:xfrm>
          <a:prstGeom prst="rect">
            <a:avLst/>
          </a:prstGeom>
          <a:noFill/>
        </p:spPr>
        <p:txBody>
          <a:bodyPr wrap="square" lIns="0" rIns="0" tIns="0" bIns="0">
            <a:spAutoFit/>
          </a:bodyPr>
          <a:lstStyle/>
          <a:p>
            <a:pPr algn="l">
              <a:spcBef>
                <a:spcPts val="0"/>
              </a:spcBef>
              <a:spcAft>
                <a:spcPts val="0"/>
              </a:spcAft>
              <a:buNone/>
            </a:pPr>
            <a:r>
              <a:rPr sz="1600" b="1">
                <a:solidFill>
                  <a:srgbClr val="00998A"/>
                </a:solidFill>
                <a:latin typeface="Segoe UI Semibold"/>
              </a:rPr>
              <a:t>The tech is done, and Claros proves it. Get the company together, unite behind one platform, and compete with macOS: ship it as Windows.Speech.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