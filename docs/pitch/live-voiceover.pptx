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8813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Local AI on Windows: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None/>
            </a:pPr>
            <a:r>
              <a:rPr sz="4400" b="1">
                <a:solidFill>
                  <a:srgbClr val="00998A"/>
                </a:solidFill>
                <a:latin typeface="Segoe UI Semibold"/>
              </a:rPr>
              <a:t>the advantage that's locked away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CFE0F3"/>
                </a:solidFill>
                <a:latin typeface="Segoe UI Light"/>
              </a:rPr>
              <a:t>Local AI unlocks a new class of experiences: offline, private, instant, and free. Windows already ships the on-device HD voices, the speech recognition, and the hardware to run both. The one thing missing is the public API to build on. Here's the proof, and the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>
                <a:solidFill>
                  <a:srgbClr val="9FC4E7"/>
                </a:solidFill>
                <a:latin typeface="Segoe UI"/>
              </a:rPr>
              <a:t>A working reference implementation on Windows' on-device speech (HD voices + recognition),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9FC4E7"/>
                </a:solidFill>
                <a:latin typeface="Segoe UI Semibold"/>
              </a:rPr>
              <a:t>built to show Microsoft the public API it should 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Windows is sitting on something groundbreaking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Local AI models unlock scenarios cloud can't: offline, private, free, instant. The capability already ships on Windows. Access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WHY ·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Mac proves the model; Windows can take it further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APPLE · proven, but capped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On-device speech recognition (SpeechAnalyzer) and neural TTS ship to apps.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It proves local-first speech, in and out, is real, shipped, and wanted.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But there is no cloud to graduate to: Apple cannot scale you past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2011680"/>
            <a:ext cx="5257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011680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12140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WINDOWS + AZURE · the bigger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88920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The same on-device HD voices AND Live Captions recognition already ship, free.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API can scale from local to Azure with your credentials, no rewrite.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First-party reach (Edge, Office, Teams, PowerPoint, Clipchamp) no rival matches.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8640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Mac already has almost the equivalent on-device. Only Microsoft can pair it with Azure and its own product suite, turning a proven idea into a platform advantage.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WHY · THE TECH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voice is already on the device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Already installed · shared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One system-wide model, already offline on every machine that added a voice, so apps rely on Windows instead of bundling or downloading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7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7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Near-cloud quality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Forced-HD on-device output is near-identical to Microsoft's cloud neural voices, not the old robotic local voices.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109728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39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Runs anywhere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606060"/>
                </a:solidFill>
                <a:latin typeface="Segoe UI"/>
              </a:rPr>
              <a:t>Synthesis is far faster than real time on an ordinary CPU, needs no NPU, and is fast enough to generate speech live on virtually any modern PC.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12080"/>
            <a:ext cx="1088136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76672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The capability ships on every Windows machine. The public API to enumerate, load, and drive it does not, so no app can build on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WHY · THE COST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Microsoft won't even use its own local tech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212080" cy="265176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000" b="1">
                <a:solidFill>
                  <a:srgbClr val="CA5F00"/>
                </a:solidFill>
                <a:latin typeface="Segoe UI Semibold"/>
              </a:rPr>
              <a:t>Edge “Read Aloud”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Its natural voices stream from the CLOUD (a network round-trip and server cost on every play), even though a same-class Natural HD voice now runs on the very same device, offline.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202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Needs a connection, with no offline read-aloud at natural quality.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privacy boundary: text leaves the device to be spoken.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A recurring cloud bill for something the local device could do for free.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50" b="0">
                <a:solidFill>
                  <a:srgbClr val="1F1F1F"/>
                </a:solidFill>
                <a:latin typeface="Segoe UI"/>
              </a:rPr>
              <a:t>If Microsoft's own browser can't build on the local voice, no ISV can.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03A5E"/>
                </a:solidFill>
                <a:latin typeface="Segoe UI Semibold"/>
              </a:rPr>
              <a:t>The tech is sitting idle behind a missing API. Innovation is blocked at the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What local voices unlock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Open the API and the same on-device voice powers new products, and fixes ones Microsoft already ships.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FLAGSHIP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Subtitles → live, multilingual voiceover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1700" b="1">
                <a:solidFill>
                  <a:srgbClr val="103A5E"/>
                </a:solidFill>
                <a:latin typeface="Segoe UI Semibold"/>
              </a:rPr>
              <a:t>Every video already ships subtitles. Turn that track into an on-device spoken voiceover, in the viewer's language, in sync with the video.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Proof: “Zava Dental” product video, voiced in English (Ava) and French (Remy), Natural HD, fully offline. Same pipeline, only the subtitle language differs.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A WinUI app plays the muted video and switches voiceover language LIVE, mid-play, on the device.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10881360" cy="14173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CA5F00"/>
                </a:solidFill>
                <a:latin typeface="Segoe UI Semibold"/>
              </a:rPr>
              <a:t>Honest boundary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1F1F1F"/>
                </a:solidFill>
                <a:latin typeface="Segoe UI"/>
              </a:rPr>
              <a:t>No lip-sync, one voice per language, neutral delivery. This complements studio dubbing; it doesn't replace it. It's transformative for the vast middle: training, docs, demos, news, corporate comms, education, UGC, accessibility.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8FC4F0"/>
                </a:solidFill>
                <a:latin typeface="Segoe UI Semibold"/>
              </a:rPr>
              <a:t>WHAT · IT SCALES THE RIGHT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One track. Every language. Almost no bytes.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120640" cy="219456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00998A"/>
                </a:solidFill>
                <a:latin typeface="Segoe UI Semibold"/>
              </a:rPr>
              <a:t>≈ 400×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smaller as a subtitle (~2.6 KB) than as pre-rendered dub audio (~1.0 MB), per language.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864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Subtitles are ALREADY on the wire for captions → the voiceover is effectively free bandwidth.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7 languages: ~18 KB of subtitles vs ~7 MB of dub audio, versus ~812 MB of duplicate dubbed videos.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One asset serves BOTH captions (deaf/HoH) and spoken narration (low-vision, dyslexic, eyes-busy, learners).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Instant reach into the long tail of languages no studio would fund a voice cast 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FIX WHAT ALREADY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The same voice, in every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9728" cy="1920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Edge Read Aloud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Same HD quality with zero cloud cost, offline, private, and instant, with no round-trip.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96596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109728" cy="192024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2221991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Teams &amp; Office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On-device narration, captions read aloud, and accessible documents, with no per-minute bill.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0520"/>
            <a:ext cx="109728" cy="1920240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Clipchamp voiceover →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Its text-to-speech voiceover runs on Azure today; on-device HD voices cut that cloud bill to zero and work offline.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4160520"/>
            <a:ext cx="5257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4160520"/>
            <a:ext cx="109728" cy="1920240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41655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900" b="1">
                <a:solidFill>
                  <a:srgbClr val="1F1F1F"/>
                </a:solidFill>
                <a:latin typeface="Segoe UI Semibold"/>
              </a:rPr>
              <a:t>Accessibility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606060"/>
                </a:solidFill>
                <a:latin typeface="Segoe UI"/>
              </a:rPr>
              <a:t>Private, offline screen narration in the user's language, so nothing leaves the machine.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A NEW CREATIVE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Make every PowerPoint a video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POWERPOINT + LOCAL VOICES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Speaker notes become the narration script, one per slide.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Render the deck to a fully narrated MP4, on the device.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One deck → many languages, no re-recording.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Offline, private, and free, with an Azure upsell for avatars &amp; premium.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965960"/>
            <a:ext cx="525780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965960"/>
            <a:ext cx="5257800" cy="566928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0756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CLOUD VIDEO TOOLS (e.g. Synthesia)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6634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Per-minute / subscription cloud cost.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Script and content leave the org to render.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Online-only; a separate tool and export step.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No on-device, private, or free tier.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4406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Turn every deck into a narrated, multilingual video, built into the tool and running on the device. Even this deck could narrate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PROOF IT'S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Fast enough to switch language mid-video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Real-time factor (synthesis)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≈ 0.025–0.05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874519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~20–40× faster than playback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32887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32887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Steady-state synth (≈4 s speech)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~100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532887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per sentence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5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91255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Time-to-first-audio (cold)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9125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~1.9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191255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on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49623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49623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Load a 2nd voice (staging cached)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9623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~23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849623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essentially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07991"/>
            <a:ext cx="1088136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07991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F1F1F"/>
                </a:solidFill>
                <a:latin typeface="Segoe UI"/>
              </a:rPr>
              <a:t>First synth per voice (warm-up)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07991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78D4"/>
                </a:solidFill>
                <a:latin typeface="Segoe UI Semibold"/>
              </a:rPr>
              <a:t>~1.1–1.4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507991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606060"/>
                </a:solidFill>
                <a:latin typeface="Segoe UI"/>
              </a:rPr>
              <a:t>one-time per voice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39511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103A5E"/>
                </a:solidFill>
                <a:latin typeface="Segoe UI Semibold"/>
              </a:rPr>
              <a:t>Pre-load the offered languages once → switching is instant: change the dropdown and the next line speaks in the new language.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998A"/>
                </a:solidFill>
                <a:latin typeface="Segoe UI Semibold"/>
              </a:rPr>
              <a:t>WHAT · THE COMPLETE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TTS is only half. Windows already listens, too.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>
                <a:solidFill>
                  <a:srgbClr val="103A5E"/>
                </a:solidFill>
                <a:latin typeface="Segoe UI Semibold"/>
              </a:rPr>
              <a:t>The same story runs on the input side: Windows ships the on-device Live Captions recognizer, offline, on the CPU, with no NPU.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A call listener: one recognizer per speaker, finals-only punctuated sentences, merged into a single two-party transcript, the pattern Contoso-Finance uses on Mac.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And it closes the loop: a conversation orchestrator captures the mic, endpoints each turn, recognizes it, and speaks the reply, with barge-in, and one place to plug in intelligence (an on-device LLM).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Font typeface="Segoe UI"/>
              <a:buChar char="•"/>
            </a:pPr>
            <a:r>
              <a:rPr sz="1450" b="0">
                <a:solidFill>
                  <a:srgbClr val="1F1F1F"/>
                </a:solidFill>
                <a:latin typeface="Segoe UI"/>
              </a:rPr>
              <a:t>Pair it with the HD voices for a complete round-trip platform, speech-in and speech-out, both on-device, both already in Windows, free, private, and offline.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63440"/>
            <a:ext cx="10881360" cy="137160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28032"/>
            <a:ext cx="103327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2000" b="1">
                <a:solidFill>
                  <a:srgbClr val="00998A"/>
                </a:solidFill>
                <a:latin typeface="Segoe UI Semibold"/>
              </a:rPr>
              <a:t>Speak → transcribe → understand → respond → speak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03A5E"/>
                </a:solidFill>
                <a:latin typeface="Segoe UI"/>
              </a:rPr>
              <a:t>Every stage runs on the device, on hardware already in Windows. The ‘understand’ step is a drop-in AI extensibility point where you add on-device intelligence. Microsoft can deliver a full speech platform out of technology that already ships, no NPU and no cloud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WHAT · PROOF (LISTENING)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On-device transcription at the quality tier, on the CPU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06060"/>
                </a:solidFill>
                <a:latin typeface="Segoe UI"/>
              </a:rPr>
              <a:t>Real 58 s two-party mortgage call, normalized to a 2-leg call (one recognizer per speaker); single-stream engines doubled.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881360" cy="4572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0116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0116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First 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01168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Peak RAM (2 legs)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116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0116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Quality (numbers / ITN)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68880"/>
            <a:ext cx="10881360" cy="512064"/>
          </a:xfrm>
          <a:prstGeom prst="rect">
            <a:avLst/>
          </a:prstGeom>
          <a:solidFill>
            <a:srgbClr val="E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68880"/>
            <a:ext cx="91440" cy="512064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19" y="2468880"/>
            <a:ext cx="3246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1F1F1F"/>
                </a:solidFill>
                <a:latin typeface="Segoe UI Semibold"/>
              </a:rPr>
              <a:t>Live Captions (this library)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468880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~4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468880"/>
            <a:ext cx="1691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0078D4"/>
                </a:solidFill>
                <a:latin typeface="Segoe UI Semibold"/>
              </a:rPr>
              <a:t>~500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468880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468880"/>
            <a:ext cx="2560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ITN tier ($ / % / currency)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80944"/>
            <a:ext cx="10881360" cy="51206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19" y="2980944"/>
            <a:ext cx="3246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1F1F1F"/>
                </a:solidFill>
                <a:latin typeface="Segoe UI Semibold"/>
              </a:rPr>
              <a:t>Apple SpeechAnalyzer (macOS)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980944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~4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980944"/>
            <a:ext cx="1691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0078D4"/>
                </a:solidFill>
                <a:latin typeface="Segoe UI Semibold"/>
              </a:rPr>
              <a:t>~440 MB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2980944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Apple ANE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980944"/>
            <a:ext cx="2560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Reference: $610,000, 6.2%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493008"/>
            <a:ext cx="10881360" cy="51206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19" y="3493008"/>
            <a:ext cx="3246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1F1F1F"/>
                </a:solidFill>
                <a:latin typeface="Segoe UI Semibold"/>
              </a:rPr>
              <a:t>WinAI Speech Preview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493008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3.5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493008"/>
            <a:ext cx="1691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0078D4"/>
                </a:solidFill>
                <a:latin typeface="Segoe UI Semibold"/>
              </a:rPr>
              <a:t>~6,400 MB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493008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Hexagon NPU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3493008"/>
            <a:ext cx="2560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Best ITN (Whisper Turbo)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005072"/>
            <a:ext cx="108813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19" y="4005072"/>
            <a:ext cx="3246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1F1F1F"/>
                </a:solidFill>
                <a:latin typeface="Segoe UI Semibold"/>
              </a:rPr>
              <a:t>Nemotron 0.6B (Foundry Local)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400507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1.2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4005072"/>
            <a:ext cx="1691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~1,750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CPU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4005072"/>
            <a:ext cx="2560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No clean sentence breaks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517136"/>
            <a:ext cx="108813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19" y="4517136"/>
            <a:ext cx="3246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1F1F1F"/>
                </a:solidFill>
                <a:latin typeface="Segoe UI Semibold"/>
              </a:rPr>
              <a:t>Whisper small (CPU ONNX)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51713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2.3 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4517136"/>
            <a:ext cx="1691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~1,200 MB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4517136"/>
            <a:ext cx="12801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CPU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4517136"/>
            <a:ext cx="2560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606060"/>
                </a:solidFill>
                <a:latin typeface="Segoe UI"/>
              </a:rPr>
              <a:t>Low: hallucinates numbers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5138928"/>
            <a:ext cx="10881360" cy="9601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5285232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103A5E"/>
                </a:solidFill>
                <a:latin typeface="Segoe UI Semibold"/>
              </a:rPr>
              <a:t>The quality peers are Apple and NPU Whisper Turbo. This library matches that ITN tier on the CPU at ~500 MB for two legs: ~13× less RAM than the NPU path, no NPU. Nemotron and Whisper small are ruled out on quality, not memory.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371600" cy="82296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00998A"/>
                </a:solidFill>
                <a:latin typeface="Segoe UI Semibold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862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>
                <a:solidFill>
                  <a:srgbClr val="FFFFFF"/>
                </a:solidFill>
                <a:latin typeface="Segoe UI Semibold"/>
              </a:rPr>
              <a:t>Make the POC real: remove the hack, ship the API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CFE0F3"/>
                </a:solidFill>
                <a:latin typeface="Segoe UI Light"/>
              </a:rPr>
              <a:t>One API surface. Local-first and free by default, and the same code scales to Azure with your creds.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CA5F00"/>
                </a:solidFill>
                <a:latin typeface="Segoe UI Semibold"/>
              </a:rPr>
              <a:t>HOW · THE FRICTION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It works, but only as a hack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700" b="0">
                <a:solidFill>
                  <a:srgbClr val="1F1F1F"/>
                </a:solidFill>
                <a:latin typeface="Segoe UI"/>
              </a:rPr>
              <a:t>To reach the on-device HD voice and Live Captions runtimes with no public API, this reference implementation has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Pass an undocumented Embedded Speech license string to unlock synthesis.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Load gated extension DLLs out of a first-party SystemApps folder.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Font typeface="Segoe UI"/>
              <a:buChar char="•"/>
            </a:pPr>
            <a:r>
              <a:rPr sz="1700" b="0">
                <a:solidFill>
                  <a:srgbClr val="1F1F1F"/>
                </a:solidFill>
                <a:latin typeface="Segoe UI"/>
              </a:rPr>
              <a:t>Resolve native dependencies by walking the package graph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92040"/>
            <a:ext cx="10881360" cy="960120"/>
          </a:xfrm>
          <a:prstGeom prst="rect">
            <a:avLst/>
          </a:prstGeom>
          <a:solidFill>
            <a:srgbClr val="FB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CA5F00"/>
                </a:solidFill>
                <a:latin typeface="Segoe UI Semibold"/>
              </a:rPr>
              <a:t>Unsupported and fragile, exactly the friction that stops real products from shipping on the capability. That's what the API removes.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078D4"/>
                </a:solidFill>
                <a:latin typeface="Segoe UI Semibold"/>
              </a:rPr>
              <a:t>HOW ·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1F1F1F"/>
                </a:solidFill>
                <a:latin typeface="Segoe UI Semibold"/>
              </a:rPr>
              <a:t>One API. Local by default. Cloud when you want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74519"/>
            <a:ext cx="5257800" cy="566928"/>
          </a:xfrm>
          <a:prstGeom prst="rect">
            <a:avLst/>
          </a:prstGeom>
          <a:solidFill>
            <a:srgbClr val="009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DEFAULT: on-device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Offline, private, free, instant.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Runs on the installed Natural HD voice.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No key, no bill, nothing leaves the device.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874519"/>
            <a:ext cx="5257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874519"/>
            <a:ext cx="525780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84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UPSELL: same API + your Azure creds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65176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More voices, more languages, server-side scale.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Batch, streaming, and cross-device workloads.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Font typeface="Segoe UI"/>
              <a:buChar char="•"/>
            </a:pPr>
            <a:r>
              <a:rPr sz="1500" b="0">
                <a:solidFill>
                  <a:srgbClr val="1F1F1F"/>
                </a:solidFill>
                <a:latin typeface="Segoe UI"/>
              </a:rPr>
              <a:t>Same code path; credentials switch the backend.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3063240"/>
            <a:ext cx="502920" cy="365760"/>
          </a:xfrm>
          <a:prstGeom prst="rightArrow">
            <a:avLst/>
          </a:prstGeom>
          <a:solidFill>
            <a:srgbClr val="C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9601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074920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03A5E"/>
                </a:solidFill>
                <a:latin typeface="Segoe UI Semibold"/>
              </a:rPr>
              <a:t>Local is the free on-ramp; Azure is the paid upsell. Apple stops at the device, with no cloud to graduate to. Windows plus Azure plus Microsoft's own apps is a funnel no competitor can match.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WindowsNaturalVoices  ·  on-device speech, offline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640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60606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400" b="1">
                <a:solidFill>
                  <a:srgbClr val="8FC4F0"/>
                </a:solidFill>
                <a:latin typeface="Segoe UI Semibold"/>
              </a:rPr>
              <a:t>THE ASK TO MICROSOFT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Ship this as a first-class Windows speech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CFE0F3"/>
                </a:solidFill>
                <a:latin typeface="Segoe UI"/>
              </a:rPr>
              <a:t>This repo is a working reference implementation of what it should look like. Take the hack out; make it supported: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10424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Enumerate installed Natural voices and synthesize offline through the on-device HD runtime.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Stream synthesis and recognition live, with word-boundary events and immutable finals.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Recognize speech on-device with the same Live Captions model, one recognizer per audio source.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Drive a full on-device conversation loop: capture, endpoint, recognize, respond, speak, with barge-in and a place to plug in intelligence.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Font typeface="Segoe UI"/>
              <a:buChar char="•"/>
            </a:pPr>
            <a:r>
              <a:rPr sz="1600" b="0">
                <a:solidFill>
                  <a:srgbClr val="FFFFFF"/>
                </a:solidFill>
                <a:latin typeface="Segoe UI"/>
              </a:rPr>
              <a:t>Same surface scales to Azure with credentials, so it's local-first and cloud-optional.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166360"/>
            <a:ext cx="10881360" cy="960120"/>
          </a:xfrm>
          <a:prstGeom prst="rect">
            <a:avLst/>
          </a:prstGeom>
          <a:solidFill>
            <a:srgbClr val="164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21808"/>
            <a:ext cx="10332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Segoe UI Semibold"/>
              </a:rPr>
              <a:t>Then every app (Edge, Teams, Office, media players, accessibility tools) gets instant, private, multilingual, on-device narration and transcription for free, with a paved road to Azure.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